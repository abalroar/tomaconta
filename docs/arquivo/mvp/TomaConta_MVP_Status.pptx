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06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06611"/>
                </a:solidFill>
                <a:latin typeface="Calibri"/>
              </a:rPr>
              <a:t>TOMA CONTA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Às quantas anda o MVP?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Abril 2026  ·  Demo com o Diretor: 15/04/2026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Corporativo |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6611"/>
                </a:solidFill>
                <a:latin typeface="Calibri"/>
              </a:rPr>
              <a:t>VISÃO GERAL DO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06611"/>
                </a:solidFill>
                <a:latin typeface="Calibri"/>
              </a:rP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Calibri"/>
              </a:rPr>
              <a:t>de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(15 completos + ½ × 2 parciais) / 32 itens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40480"/>
            <a:ext cx="4572000" cy="292608"/>
          </a:xfrm>
          <a:prstGeom prst="rect">
            <a:avLst/>
          </a:prstGeom>
          <a:solidFill>
            <a:srgbClr val="CCCCC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2286000" cy="292608"/>
          </a:xfrm>
          <a:prstGeom prst="rect">
            <a:avLst/>
          </a:prstGeom>
          <a:solidFill>
            <a:srgbClr val="F06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188720"/>
            <a:ext cx="1463040" cy="1188720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2344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75623"/>
                </a:solidFill>
                <a:latin typeface="Calibr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874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75623"/>
                </a:solidFill>
                <a:latin typeface="Calibri"/>
              </a:rPr>
              <a:t>Implementados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188720"/>
            <a:ext cx="1463040" cy="1188720"/>
          </a:xfrm>
          <a:prstGeom prst="rect">
            <a:avLst/>
          </a:prstGeom>
          <a:solidFill>
            <a:srgbClr val="FFEB9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2344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9C65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874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6500"/>
                </a:solidFill>
                <a:latin typeface="Calibri"/>
              </a:rPr>
              <a:t>Parcialmente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188720"/>
            <a:ext cx="1463040" cy="1188720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344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9C0006"/>
                </a:solidFill>
                <a:latin typeface="Calibri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874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0006"/>
                </a:solidFill>
                <a:latin typeface="Calibri"/>
              </a:rPr>
              <a:t>Pendentes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81360" y="1188720"/>
            <a:ext cx="1463040" cy="1188720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12344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36363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1874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36363"/>
                </a:solidFill>
                <a:latin typeface="Calibri"/>
              </a:rPr>
              <a:t>N/A ou obs.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743200"/>
            <a:ext cx="61264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F066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28346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6611"/>
                </a:solidFill>
                <a:latin typeface="Calibri"/>
              </a:rPr>
              <a:t>PRIORIDADES PARA A DEMO — 15/04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3375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🔴  S2  — Corrigir bug 'variação de bastão' no Scatter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7947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🔴  P2/P3/P4  — Métricas crédito e N1 no Peer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2519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🔴  P1 / D1  — Dropdown base de comparação (Peer + DRE)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7091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🔴  R8  — Tratar variação % sobre dado já percentual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1663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🔴  D2/D3  — Reorganizar estrutura da DRE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56235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🔴  F1/F2  — Melhorias de filtros no FGC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6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Corporativo |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6611"/>
                </a:solidFill>
                <a:latin typeface="Calibri"/>
              </a:rPr>
              <a:t>RANKINGS &amp; TAXA DE JUROS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128016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Aba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822960"/>
            <a:ext cx="5029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822960"/>
            <a:ext cx="201168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822960"/>
            <a:ext cx="80467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Pedido / Descrição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70432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170432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170432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170432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Multi-período no gráfico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554480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155448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554480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554480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ROE Trimestral como indicador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938528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1938528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938528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938528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Campo 'Ponderar média por' ausente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322576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2322576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2322576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2322576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Linhas pontilhadas média seleção + SFN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706624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2706624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706624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2706624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Pools Top 5/10/20 pré-selecionados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090672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3090672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3090672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3090672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Campo 'Ordenação' ausente; só direção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474720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347472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3474720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3474720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Deltas: tri vs tri + acumulado vs acumulado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858768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08760" y="3858768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3858768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3858768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Tratar variação % sobre dado em % (ROE/Basileia)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242816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08760" y="4242816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R_exp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4242816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4242816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Remover export da visão gráfica (Deltas)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626864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4626864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4626864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0" y="4626864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Tabela com pools Top 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010912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08760" y="5010912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0" y="5010912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23360" y="5010912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Encaixe de banco individual no ranking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5394960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08760" y="539496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R15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0" y="5394960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23360" y="5394960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Export da tabela disponível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5779008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08760" y="5779008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R16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0" y="5779008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23360" y="5779008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Formatação números redondos na tabela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6163056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Taxa de Juros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08760" y="6163056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T1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0" y="6163056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23360" y="6163056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Ranking Top 10 aberto com posições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6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Corporativo | Interno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Completion: 50%  |  15 impl · 2 parcial · 15 pendente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6611"/>
                </a:solidFill>
                <a:latin typeface="Calibri"/>
              </a:rPr>
              <a:t>FGC, SCATTER &amp; DRE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128016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Aba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822960"/>
            <a:ext cx="5029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822960"/>
            <a:ext cx="201168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822960"/>
            <a:ext cx="80467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Pedido / Descrição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70432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FGC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170432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170432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170432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Top N como clusters no dropdown de instituições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554480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FGC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155448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F2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554480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554480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Múltiplos períodos + toggle tri vs acumulado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938528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FGC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1938528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F3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938528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938528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LL Trimestral como variável no FGC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322576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Scatter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2322576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S1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2322576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2322576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LL Trim disponível para tamanho bolinha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706624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Scatter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2706624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S2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706624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2706624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Bug: gráfico variação de bastão não renderiza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090672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Scatter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3090672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S3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3090672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3090672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Variáveis avançadas (backlog v2)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474720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347472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3474720"/>
            <a:ext cx="2011680" cy="347472"/>
          </a:xfrm>
          <a:prstGeom prst="rect">
            <a:avLst/>
          </a:prstGeom>
          <a:solidFill>
            <a:srgbClr val="FFEB9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6500"/>
                </a:solidFill>
                <a:latin typeface="Calibri"/>
              </a:rPr>
              <a:t>🟡 Parcialmente Implementado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3474720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Dropdown base lucro existe, falta tri vs acum.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858768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08760" y="3858768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3858768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3858768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Reorganizar DRE + Res. Intermediação Ajustado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242816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08760" y="4242816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4242816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4242816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Desp PDD Outras Operações como subconta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626864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4626864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4626864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0" y="4626864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Análise aderência PDD/NI → levar ao Peer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6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Corporativo | Interno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Completion: 50%  |  15 impl · 2 parcial · 15 pendente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6611"/>
                </a:solidFill>
                <a:latin typeface="Calibri"/>
              </a:rPr>
              <a:t>PEER, EVOLUÇÃO &amp; CARTEIRA 4966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128016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Aba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822960"/>
            <a:ext cx="5029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822960"/>
            <a:ext cx="201168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822960"/>
            <a:ext cx="80467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Pedido / Descrição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70432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DRE Individual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170432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DI1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170432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170432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Exibe nome do banco (não código)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554480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Peer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155448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554480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554480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Dropdown base de comparação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938528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Peer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1938528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938528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938528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Est3/Carteira e Est2+3/Carteira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322576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Peer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2322576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2322576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2322576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Perda Esperada / Estágio 2 e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706624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Peer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2706624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P4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706624"/>
            <a:ext cx="2011680" cy="347472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0006"/>
                </a:solidFill>
                <a:latin typeface="Calibri"/>
              </a:rPr>
              <a:t>🔴 Pendente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2706624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Índice Capital N1 (T1) na tabela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090672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Evolução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3090672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E1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3090672"/>
            <a:ext cx="2011680" cy="347472"/>
          </a:xfrm>
          <a:prstGeom prst="rect">
            <a:avLst/>
          </a:prstGeom>
          <a:solidFill>
            <a:srgbClr val="C6EF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75623"/>
                </a:solidFill>
                <a:latin typeface="Calibri"/>
              </a:rPr>
              <a:t>✅ Implementado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3090672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N1 incluso; ordem CET1→N1→BIS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474720"/>
            <a:ext cx="1280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Carteira 4966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3474720"/>
            <a:ext cx="5029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C1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3474720"/>
            <a:ext cx="2011680" cy="347472"/>
          </a:xfrm>
          <a:prstGeom prst="rect">
            <a:avLst/>
          </a:prstGeom>
          <a:solidFill>
            <a:srgbClr val="FFEB9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C6500"/>
                </a:solidFill>
                <a:latin typeface="Calibri"/>
              </a:rPr>
              <a:t>🟡 Parcialmente Implementado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3474720"/>
            <a:ext cx="80467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404040"/>
                </a:solidFill>
                <a:latin typeface="Calibri"/>
              </a:rPr>
              <a:t>Em construção (baixa prioridade)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6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6510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Corporativo | Interno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Completion: 50%  |  15 impl · 2 parcial · 15 pendente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06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PRÓXIMOS PASSOS PARA A DEMO — 15/04/2026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6611"/>
                </a:solidFill>
                <a:latin typeface="Calibri"/>
              </a:rPr>
              <a:t>ALTA PRIORIDADE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749039" cy="1024128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9C0006"/>
                </a:solidFill>
                <a:latin typeface="Calibri"/>
              </a:rPr>
              <a:t>S2  — Corrigir bug 'variação de bastão' no Scatter Plot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624328"/>
            <a:ext cx="3749039" cy="1024128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9C0006"/>
                </a:solidFill>
                <a:latin typeface="Calibri"/>
              </a:rPr>
              <a:t>P2/P3/P4  — Adicionar métricas de crédito e Índice N1 ao Peer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739896"/>
            <a:ext cx="3749039" cy="1024128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9C0006"/>
                </a:solidFill>
                <a:latin typeface="Calibri"/>
              </a:rPr>
              <a:t>P1 / D1  — Dropdown 'base de comparação' no Peer e na DRE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855464"/>
            <a:ext cx="3749039" cy="1024128"/>
          </a:xfrm>
          <a:prstGeom prst="rect">
            <a:avLst/>
          </a:prstGeom>
          <a:solidFill>
            <a:srgbClr val="FFC7C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9C0006"/>
                </a:solidFill>
                <a:latin typeface="Calibri"/>
              </a:rPr>
              <a:t>R8  — Tratar corretamente variação % sobre dado já percentual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0515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CCCC"/>
                </a:solidFill>
                <a:latin typeface="Calibri"/>
              </a:rPr>
              <a:t>MÉDIA PRIORIDADE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749039" cy="1024128"/>
          </a:xfrm>
          <a:prstGeom prst="rect">
            <a:avLst/>
          </a:prstGeom>
          <a:solidFill>
            <a:srgbClr val="FFEB9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9C6500"/>
                </a:solidFill>
                <a:latin typeface="Calibri"/>
              </a:rPr>
              <a:t>D2 / D3  — Reorganizar variáveis da DRE e abrir subconta PDD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24328"/>
            <a:ext cx="3749039" cy="1024128"/>
          </a:xfrm>
          <a:prstGeom prst="rect">
            <a:avLst/>
          </a:prstGeom>
          <a:solidFill>
            <a:srgbClr val="FFEB9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9C6500"/>
                </a:solidFill>
                <a:latin typeface="Calibri"/>
              </a:rPr>
              <a:t>F1 / F2  — Melhorar filtros da aba Contribuições FGC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739896"/>
            <a:ext cx="3749039" cy="1024128"/>
          </a:xfrm>
          <a:prstGeom prst="rect">
            <a:avLst/>
          </a:prstGeom>
          <a:solidFill>
            <a:srgbClr val="FFEB9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9C6500"/>
                </a:solidFill>
                <a:latin typeface="Calibri"/>
              </a:rPr>
              <a:t>R16  — Formatação de números na tabela do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0515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BACKLOG (PÓS-DEMO)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749039" cy="102412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636363"/>
                </a:solidFill>
                <a:latin typeface="Calibri"/>
              </a:rPr>
              <a:t>S3  — Variáveis avançadas no Scatter (PDD/Cart, Est3/Cart, …)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624328"/>
            <a:ext cx="3749039" cy="102412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636363"/>
                </a:solidFill>
                <a:latin typeface="Calibri"/>
              </a:rPr>
              <a:t>D4  — Análise de aderência PDD/NI → Peer (condicional)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739896"/>
            <a:ext cx="3749039" cy="1024128"/>
          </a:xfrm>
          <a:prstGeom prst="rect">
            <a:avLst/>
          </a:prstGeom>
          <a:solidFill>
            <a:srgbClr val="EDEDE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636363"/>
                </a:solidFill>
                <a:latin typeface="Calibri"/>
              </a:rPr>
              <a:t>R9-R12  — Seção ilegível — realinhar com o chefe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6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Corporativo |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