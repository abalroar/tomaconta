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bba3c878c649b8" /><Relationship Type="http://schemas.openxmlformats.org/officeDocument/2006/relationships/extended-properties" Target="/docProps/app.xml" Id="R1f2fb4e5e5a2418f" /><Relationship Type="http://schemas.openxmlformats.org/officeDocument/2006/relationships/officeDocument" Target="/ppt/presentation.xml" Id="Rdd991dec6e9741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2bbde2f3e44ad"/>
  </p:sldMasterIdLst>
  <p:notesMasterIdLst>
    <p:notesMasterId xmlns:r="http://schemas.openxmlformats.org/officeDocument/2006/relationships" r:id="R8394438a2bbf4538"/>
  </p:notesMasterIdLst>
  <p:sldIdLst>
    <p:sldId xmlns:r="http://schemas.openxmlformats.org/officeDocument/2006/relationships" id="256" r:id="R6923793af65b40f7"/>
    <p:sldId xmlns:r="http://schemas.openxmlformats.org/officeDocument/2006/relationships" id="257" r:id="Rc08d9ce3b9814551"/>
    <p:sldId xmlns:r="http://schemas.openxmlformats.org/officeDocument/2006/relationships" id="258" r:id="R6cdc8c5f56314f27"/>
    <p:sldId xmlns:r="http://schemas.openxmlformats.org/officeDocument/2006/relationships" id="259" r:id="R308b5114a4d14b4d"/>
    <p:sldId xmlns:r="http://schemas.openxmlformats.org/officeDocument/2006/relationships" id="260" r:id="R837ba195e0424295"/>
    <p:sldId xmlns:r="http://schemas.openxmlformats.org/officeDocument/2006/relationships" id="261" r:id="R48c9b7d47f1d49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9de35cc0ec4616" /><Relationship Type="http://schemas.openxmlformats.org/officeDocument/2006/relationships/slideMaster" Target="/ppt/slideMasters/slideMaster1.xml" Id="R2902bbde2f3e44ad" /><Relationship Type="http://schemas.openxmlformats.org/officeDocument/2006/relationships/notesMaster" Target="/ppt/notesMasters/notesMaster1.xml" Id="R8394438a2bbf4538" /><Relationship Type="http://schemas.openxmlformats.org/officeDocument/2006/relationships/presProps" Target="/ppt/presProps.xml" Id="Rbc06e5ac4bd14aef" /><Relationship Type="http://schemas.openxmlformats.org/officeDocument/2006/relationships/viewProps" Target="/ppt/viewProps.xml" Id="R906698f41f66401f" /><Relationship Type="http://schemas.openxmlformats.org/officeDocument/2006/relationships/tableStyles" Target="/ppt/tableStyles.xml" Id="Raa1f39a83e934691" /><Relationship Type="http://schemas.openxmlformats.org/officeDocument/2006/relationships/slide" Target="/ppt/slides/slide1.xml" Id="R6923793af65b40f7" /><Relationship Type="http://schemas.openxmlformats.org/officeDocument/2006/relationships/slide" Target="/ppt/slides/slide2.xml" Id="Rc08d9ce3b9814551" /><Relationship Type="http://schemas.openxmlformats.org/officeDocument/2006/relationships/slide" Target="/ppt/slides/slide3.xml" Id="R6cdc8c5f56314f27" /><Relationship Type="http://schemas.openxmlformats.org/officeDocument/2006/relationships/slide" Target="/ppt/slides/slide4.xml" Id="R308b5114a4d14b4d" /><Relationship Type="http://schemas.openxmlformats.org/officeDocument/2006/relationships/slide" Target="/ppt/slides/slide5.xml" Id="R837ba195e0424295" /><Relationship Type="http://schemas.openxmlformats.org/officeDocument/2006/relationships/slide" Target="/ppt/slides/slide6.xml" Id="R48c9b7d47f1d49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bed20b1cac4f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daf143d46a40d6" /><Relationship Type="http://schemas.openxmlformats.org/officeDocument/2006/relationships/notesMaster" Target="/ppt/notesMasters/notesMaster1.xml" Id="R0d722a982ef74e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d32ddbaf504c6f" /><Relationship Type="http://schemas.openxmlformats.org/officeDocument/2006/relationships/notesMaster" Target="/ppt/notesMasters/notesMaster1.xml" Id="Rec48c16236414e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634815fd6c4bb0" /><Relationship Type="http://schemas.openxmlformats.org/officeDocument/2006/relationships/notesMaster" Target="/ppt/notesMasters/notesMaster1.xml" Id="Rf62fba7bc45640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9e7e9855f94a39" /><Relationship Type="http://schemas.openxmlformats.org/officeDocument/2006/relationships/notesMaster" Target="/ppt/notesMasters/notesMaster1.xml" Id="Rcc7bad5d592d41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03b914ff924c3f" /><Relationship Type="http://schemas.openxmlformats.org/officeDocument/2006/relationships/notesMaster" Target="/ppt/notesMasters/notesMaster1.xml" Id="Rc2d92266656649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07a9108ae54d56" /><Relationship Type="http://schemas.openxmlformats.org/officeDocument/2006/relationships/notesMaster" Target="/ppt/notesMasters/notesMaster1.xml" Id="Ra43d4b8cbd5540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62c802cdd4c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f98f9ce301416f" /><Relationship Type="http://schemas.openxmlformats.org/officeDocument/2006/relationships/slideLayout" Target="/ppt/slideLayouts/slideLayout1.xml" Id="R2f477fbcaf7b48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477fbcaf7b48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74133a821446a" /><Relationship Type="http://schemas.openxmlformats.org/officeDocument/2006/relationships/notesSlide" Target="/ppt/notesSlides/notesSlide1.xml" Id="R585201f7fd8c44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643db7fd64ab1" /><Relationship Type="http://schemas.openxmlformats.org/officeDocument/2006/relationships/notesSlide" Target="/ppt/notesSlides/notesSlide2.xml" Id="Rb1c13726544a4b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88ed9590d4a80" /><Relationship Type="http://schemas.openxmlformats.org/officeDocument/2006/relationships/notesSlide" Target="/ppt/notesSlides/notesSlide3.xml" Id="R4077a2a488e345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ab356073a45c3" /><Relationship Type="http://schemas.openxmlformats.org/officeDocument/2006/relationships/notesSlide" Target="/ppt/notesSlides/notesSlide4.xml" Id="Rf5af58a1748841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dc8ecb02542c8" /><Relationship Type="http://schemas.openxmlformats.org/officeDocument/2006/relationships/notesSlide" Target="/ppt/notesSlides/notesSlide5.xml" Id="R5ddf1b53684d4b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9ceeca7a5487d" /><Relationship Type="http://schemas.openxmlformats.org/officeDocument/2006/relationships/notesSlide" Target="/ppt/notesSlides/notesSlide6.xml" Id="Rf50529e02eaa43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D8CC7C-FF1A-4649-A59C-5D7EA627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33B6F-D8D9-421D-AE74-B53122EF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3A2A0-981C-4DC2-8384-57651961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E2F8B-6D42-40CC-89D1-940A001C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Estudo pontual | PL e lucro liquido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0F604-63CB-4FED-B9A9-E5B51187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Aumento de PL no 1T26 concentrou-se em janeiro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EBCA0-862C-4D3B-9090-C8D4C75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"/>
            <a:ext cx="2238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D6D6D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6D6D6"/>
                </a:solidFill>
                <a:latin typeface="Aptos"/>
                <a:ea typeface="Aptos"/>
                <a:cs typeface="Aptos"/>
              </a:rPr>
              <a:t>Dez/25 a Mar/26 | BLOPRUDENCIAL 4060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B4E3D-6FD6-43A4-AB44-4793B021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9CFAA-4145-4C9C-A955-70D3E1A4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B69E0-B434-4F0C-A378-1FC5B2AD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Universo filtrado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4A802-5497-49CC-86E2-807B8D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2209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125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96EAB-C255-43A4-A455-C6F7F829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IFs com PL dez/25 &gt;= R$100 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C19B5-7A98-4A80-AF9F-8CE66443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573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CEBF3-7479-4156-A26E-C88CE6A9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57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C5414-F0E7-417A-A669-118642CB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9065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Delta PL 1T26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5C54A-C360-4BE5-8D5F-0D2CF148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19250"/>
            <a:ext cx="2209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R$ 115,5bi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B19DD-E0F3-4B17-83B8-AAC5236C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Dez/25 para Mar/26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B5683-B872-4B4C-810D-13FC1890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573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60917-E282-4519-B6A3-7CA57160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57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6E165-74B1-406F-8BF2-36F6245B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9065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Lucro liquido 1T26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96A0D-A657-4B8E-BC66-0B5DC1AD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19250"/>
            <a:ext cx="2209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R$ 49,5bi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17844-136E-433C-97F9-FD31F504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8120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Resultado credor - devedor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113DB-8351-43EC-B3F7-FCB6000B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573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C6455-E6C3-40CC-B916-87C90AB1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57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007CC-D19E-4E4C-AE2A-46ACEE58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9065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Proxy capital/outras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2577B5-8A95-4C6B-A966-ABC1A014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19250"/>
            <a:ext cx="2209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R$ 66,0bi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A36DE-2D09-4070-AC38-8070C05C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8120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Delta PL menos LL 1T26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64A491-73A3-4B96-82CE-0576AE8F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479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6FDB84-D490-4CC9-88B6-B6987F96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479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Leitura executiva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6AF802-5772-4CC3-B6CA-562ECBC5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28950"/>
            <a:ext cx="4953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050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Janeiro e a janela-chave: R$ 91,5bi de proxy liquido no movimento Dez/25-&gt;Jan/26.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BNDES - PRUDENCIAL lidera a triagem: R$ 25,8bi de proxy no 1T26.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A proxy separa variacao patrimonial do resultado, mas exige checagem societaria para confirmar aporte.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66505-DC79-4924-95C4-EE72F23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47975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08DD7-2670-46AD-9D83-2ACF1B03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47950"/>
            <a:ext cx="464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Top 5 proxy de aporte/outras mutacoes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B9E829-3104-4FF9-84BF-D8E6F348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28950"/>
            <a:ext cx="474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A804EB-1F39-4A24-8572-4C767364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051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Instituicao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38856F-41E3-47E8-B3ED-A47EDBB4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Proxy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9239D-8451-449B-A9BA-32F663A4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Delta PL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A49F30-A5BB-482F-9459-A24BDA78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051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Mes-chave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B4874D-432F-4193-AFCE-B53AD020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14700"/>
            <a:ext cx="4743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C4A787-486B-4ED1-BADB-F96335D4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81375"/>
            <a:ext cx="2076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BNDES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1CF110-38AA-4451-AF6E-059AAD3B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1375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R$ 25,8bi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E5D685-CDEE-4640-B46B-D69908B5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81375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R$ 29,3bi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A44379-3852-4E50-8FB9-2A84FE29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81375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Dez25-&gt;Jan26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82132F-87A1-4C05-8B12-6B4F4D2B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9975"/>
            <a:ext cx="4743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112172-33E7-4E88-9EE8-C6EC79D4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76650"/>
            <a:ext cx="2076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ITAU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10D4AC-ED63-4DF8-9407-E576A7F2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R$ 4,5bi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93E679-BDDE-46DD-9881-A7070051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R$ 16,6bi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7E6678-3910-4BC0-A97C-3B930E4D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76650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Dez25-&gt;Jan26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BB59E4-46CC-40A9-9007-ABF7D2F3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5250"/>
            <a:ext cx="4743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0C2A68-29F9-4AAF-9CB9-08B21921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71925"/>
            <a:ext cx="2076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BCO CLASSICO S.A.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FD2EC2-89E7-44EC-B8B0-1C0642DE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71925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A353BB-772D-42F0-AF12-355AD559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71925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5AF5B9-BDC6-4614-91F7-2A1A3982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71925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Fev26-&gt;Mar26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3516BE-6726-4F28-BB0D-6AC3D6D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00525"/>
            <a:ext cx="4743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740561-B251-49E4-BB9A-EC026193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67200"/>
            <a:ext cx="2076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BRADESCO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1A182D-3A2A-4643-A1A9-730941C6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CCADC7-D5D1-474E-9A08-A48CF2E4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R$ 8,5bi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F605B4-3204-47BB-853E-C63F90AD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67200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Dez25-&gt;Jan26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00A2B0-E77C-41AC-BB98-E760818C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95800"/>
            <a:ext cx="4743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04B5D3-2196-4176-9175-E34E0E97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62475"/>
            <a:ext cx="2076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CLOUDWALK IP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51F541-3478-4E0F-A545-97769FA0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62475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596E80-E8F1-4A2A-8F79-8A44D45E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62475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R$ 3,6bi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2685C4-F6DA-467B-A96D-AA83E4AC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62475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Fev26-&gt;Mar26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338C52-1C13-44AF-8EF0-1E73AEAD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91100"/>
            <a:ext cx="1040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2C49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006F089-4526-471F-85DF-E3023DA9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996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Definicao operacional: proxy capital/outras mutacoes = Delta PL - lucro liquido do periodo. Para confirmar aumento de capital, cruzar os nomes priorizados com eventos societarios, demonstracoes publicadas e notas explicativas.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23C09D-D337-41D0-B596-6D3CE4FF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806E32-0E8C-41D8-8EFF-60C1D81D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Fonte: BCB BLOPRUDENCIAL 4060 local | universo: PL dez/25 &gt;= R$100 mi | valores em R$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0F74E0-7EB7-4370-AFAB-0969F211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02133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451ABE-5E3B-4735-9206-79377788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0E366-A615-4F88-BFBF-DF29B68F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0CA08-1286-468F-946C-49C51EB2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B626C-919C-4060-9A56-C42FC269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Ponte mensal de patrimonio liquido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481AC-6F10-4210-A266-BF197A4D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 salto aconteceu no primeiro mes do trimestre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A3291-604A-4E12-83F6-A5C6A950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"/>
            <a:ext cx="2238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D6D6D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6D6D6"/>
                </a:solidFill>
                <a:latin typeface="Aptos"/>
                <a:ea typeface="Aptos"/>
                <a:cs typeface="Aptos"/>
              </a:rPr>
              <a:t>Delta PL e Delta PL - LL mensal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78B9B-9854-42D3-8255-9357EE53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DE19B-C524-433D-8BE5-5CDAA516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Delta PL vs. movimento patrimonial liquido de lucro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77C81-99F8-4C6F-B066-F3BF917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2227"/>
            <a:ext cx="6334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AAAE2-54DC-4F99-9A25-6850E978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3156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68F74-DEE7-42C2-9EAA-D9D8C519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1813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0A674-42DC-4313-95D9-CEC8B697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0469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7FAA5-7D2D-4E60-8A8F-9CEE61F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04242-39E9-453F-AE35-F755CCFB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66" y="1714500"/>
            <a:ext cx="219075" cy="23977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937EE-B319-4F6C-9492-AD331508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66" y="154305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R$ 108,8bi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3BE1F-D37C-4446-AD4E-52AAB22B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116" y="2096224"/>
            <a:ext cx="219075" cy="2016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D83D7-177F-45FE-8302-A331F734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516" y="1924774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R$ 91,5bi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D88DD-A249-4289-855B-B3DDBAE1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920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Dez/25</a:t>
            </a:r>
          </a:p>
          <a:p xmlns:a="http://schemas.openxmlformats.org/drawingml/2006/main">
            <a:pPr algn="ctr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Jan/26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6C2EB-0F48-47B0-878D-F43A0BFE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741" y="4112227"/>
            <a:ext cx="219075" cy="28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B9579-AEE8-4AA5-87A8-107B1D6F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141" y="4169569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-R$ 1,3bi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3B2F5-905E-4F9D-B1F2-4D8DA427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491" y="4112227"/>
            <a:ext cx="219075" cy="3168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B913A8-E13A-488D-8CE3-9E27490F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891" y="445770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-R$ 14,4bi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80D02-0AE3-425A-9CEF-5689A3B1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375" y="4543425"/>
            <a:ext cx="1920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Jan/26</a:t>
            </a:r>
          </a:p>
          <a:p xmlns:a="http://schemas.openxmlformats.org/drawingml/2006/main">
            <a:pPr algn="ctr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Fev/26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2F523C-F9C7-4EA1-8FB5-E59D4BC1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116" y="3930993"/>
            <a:ext cx="219075" cy="1812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007BA-E2B9-4817-870D-D44D00E1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516" y="3759543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R$ 8,2bi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2E4831-AB69-4E28-99BA-59A1D841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866" y="4112227"/>
            <a:ext cx="219075" cy="234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3CED76-0CD8-4215-9EC6-434E5E1F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266" y="4375661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-R$ 10,7bi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67BDE5-DDF4-4BEC-8C4F-1A419F10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4543425"/>
            <a:ext cx="1920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Fev/26</a:t>
            </a:r>
          </a:p>
          <a:p xmlns:a="http://schemas.openxmlformats.org/drawingml/2006/main">
            <a:pPr algn="ctr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Mar/26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69E259-7D64-4B6F-B246-79D7812C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447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8C21A0-491C-4B3C-A937-EF8DB030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4192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Delta PL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D7F937-CFEE-4922-9C82-27808DE1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47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C290D2-4325-4953-849E-4BB043C2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4192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Delta PL - 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44B1C1-BA82-4A0D-8F2E-446904EB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0702A6-E81B-46AF-9628-C0A8BDD4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1811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Resumo mensal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B246CF-38DF-4B60-ACE2-434394E4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7640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15CC11-BBDA-42BC-8FFF-3ACE1D4D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6B7C06-5176-457E-BAAC-FADC76E9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Delta PL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26BE45-5903-4DB6-9AAA-23CFF507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526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Delta PL - 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F1B3A6-F6FA-4F1F-B15E-E5B66E8B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62150"/>
            <a:ext cx="320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5D78D3-0650-4F9C-9452-B86D56A2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2882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Dez/25-&gt;Jan/26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A7A270-88BB-4C6A-98AB-DC2D5987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288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R$ 108,8bi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751C7A-343B-4B91-87B8-3211C0A8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288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R$ 91,5bi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502B1E-6921-48FD-A3A2-D884B03A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62200"/>
            <a:ext cx="320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0F29DC-3E19-47CD-91B8-A9F51534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288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Jan/26-&gt;Fev/26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B98354-51EE-4CCE-BF2D-23DCA14F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-R$ 1,3bi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8E26D2-9DB8-4D1E-9EC8-6D64EF35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2887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-R$ 14,4bi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10DBE3-6DF7-47EF-83F7-BE63A760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320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9CF569-6008-423E-B27C-14508D23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2892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Fev/26-&gt;Mar/26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1C0182-1375-4B98-ACA4-81A118A6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289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R$ 8,2bi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F65400-3FD6-4106-872C-14A05AEA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289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-R$ 10,7bi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91ABE7-A915-414A-A858-A0AED853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480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65DBBA-A84C-4D1D-8D97-8C2BD55D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7665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Janeiro concentra a maior parte do sinal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AFA2CF-A5BB-408C-9AE7-C0FA836A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33850"/>
            <a:ext cx="2781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A proxy positiva em janeiro supera a proxy acumulada no trimestre porque fevereiro e marco trazem reversoes liquidas relevantes.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82848B-7D94-4ADF-8110-B40406BF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00ACD0-E3AC-4AFE-A6F8-D08FEF12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Fonte: BCB BLOPRUDENCIAL 4060 local | universo: PL dez/25 &gt;= R$100 mi | valores em R$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C7DEA0-E945-42AA-9B2C-28C845AC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6057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37C4C0-3926-4E66-82AC-96181AA0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F559D-5F41-4550-B70F-C8D2C152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38169-42AE-4FE8-A4D7-9CD39D71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901F0-8087-4B11-80B0-B496CF28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Ranking de proxy de aporte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07675-3570-4920-B790-7ACBB32F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BNDES domina a lista; bancos privados e IPs aparecem no bloco seguinte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B281A-A623-4350-8825-F423AFB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"/>
            <a:ext cx="2238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D6D6D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6D6D6"/>
                </a:solidFill>
                <a:latin typeface="Aptos"/>
                <a:ea typeface="Aptos"/>
                <a:cs typeface="Aptos"/>
              </a:rPr>
              <a:t>Top 10 por Delta PL - LL 1T26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A7942-195B-4DBB-978D-E7786301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66E02-5B34-41CA-BED9-B54934D6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638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Proxy capital/outras mutacoes no 1T26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36B9A-E595-4350-8ADF-4CC45FB3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BNDES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24FBD-5E17-41D5-8336-27B4B489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47825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4D837-5945-4CCE-A38D-F5FF0CDA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47825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336F0-DC57-4FAB-8AE8-8D926BCF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002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R$ 25,8bi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EF7BB-0724-4A5A-AFBB-001D77FC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ITAU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3E79D-90CB-4203-BFD1-7851DE44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1930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80722-561A-4E9B-8418-C7AAC00F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19300"/>
            <a:ext cx="54509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A6AF4-F3A6-40B2-814E-39905B23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716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R$ 4,5bi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AC37E-070D-4E10-83F8-4ECC4D73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BCO CLASSICO S.A.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25E37-09B0-4441-BF54-F2FB25E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90775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D598F-E26A-47EC-8A7C-ABF97550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90775"/>
            <a:ext cx="42301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0C57FD-BF5E-4518-9A48-7BAA6FCD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4B179-4C24-4DF1-8933-433AD150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BRADESCO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FC9E7-9BCA-47B0-AB12-979993AB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622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5138DE-47D0-4C35-8106-FE37DECF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62250"/>
            <a:ext cx="4173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E5F00A-6402-4561-A66D-F7BB6D53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146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8B03D-B6F8-4926-A8B4-B0DAD536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CLOUDWALK 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7C50BE-DBA6-4EFA-BE30-CA151CB1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33725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F21F45-6C17-4B3F-9AA4-C58F57B9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33725"/>
            <a:ext cx="4093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7B9E9-8AF2-470D-8ECC-26C06847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9783E4-3A20-42B9-8D80-28FFC4A0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BB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51368-26F5-4F71-A551-E2481DFE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0520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322A7D-3227-4962-A2B9-A4CCFCA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05200"/>
            <a:ext cx="38122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1E606A-0141-4E4A-AD39-720F174A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575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R$ 3,1bi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50E6A7-A398-4897-8A9B-2345F5D2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BTG PACTUAL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D67B97-2513-4B17-927E-FD666894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76675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F679B5-6917-41E6-B17A-FD19BCBB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76675"/>
            <a:ext cx="34527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CD408A-2B18-4E88-9476-89B1E1C9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R$ 2,8bi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4E10FA-E7E4-4F0E-BF61-2203E6DA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8. VOLKSWAGEN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7D517B-BF26-4EEC-ABD9-75E66BDA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C30E07-7A18-4781-AAED-118DEF11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31328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6629DD-7A98-4D32-8BC7-B4EE5215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005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R$ 2,6bi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78AA0C-5897-47E0-9EB2-5DD0E1EB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815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9. PICPAY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8A1CB6-7410-4F40-9EAB-4E6EB2B7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19625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D8BEAF-37C7-4474-A194-DDBB069A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19625"/>
            <a:ext cx="26286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5BB78A-18A6-4DA9-81C7-6EAB1926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R$ 2,2bi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1E5F7B-2984-49E6-983D-1F4CD74C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10. CAIXA CEF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2D37C2-294B-4761-825F-A8089819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9110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1149C6-D662-43CA-A203-D60A9B21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91100"/>
            <a:ext cx="25427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3D02DB-BEB7-4A37-B04F-C43950E5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434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R$ 2,1bi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AE3392-22C6-43B4-8E5E-99C2976A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620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5C677C-5FB0-4EBE-A549-5206D5F4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16205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Leitura dos cinco maiores sinais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B6C14F-825E-4CD7-BC3E-87ACD22B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811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D1D012-C984-4FCA-A9AB-6D2ABA4A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BNDES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9F1463-198F-4939-99BE-7EF5EF19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4782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R$ 25,8bi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1F5A03-AA3F-4387-AA46-803822A0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0500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Delta PL R$ 29,3bi | LL R$ 3,4bi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EDE3DC-9820-4AFA-8090-922B957A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860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1CD221-B305-482E-8C59-C5B2AB1E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ITAU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BE0465-CC5C-4597-B4F7-B20C0B65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5267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R$ 4,5bi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940571-AB2E-4277-8570-29DEA981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Delta PL R$ 16,6bi | LL R$ 12,2bi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6C9C28-D01E-429C-8092-9BD2B6A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908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A55781-966A-42E5-95F5-55138338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861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BCO CLASSICO S.A.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0475A7-E5AE-4842-9D35-EA583750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8A9774-5BB1-4443-B346-B4A92D4C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Delta PL R$ 3,5bi | LL -R$ 1,2mi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694579-6967-47EF-9644-783F69B5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57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CADA8D-0980-4588-86C6-8F969B97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BRADESCO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15C2214-77F9-4EDE-9205-33920F2A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6237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8980D9-A072-4213-95B2-C852E385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Delta PL R$ 8,5bi | LL R$ 5,0bi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464C7F9-8AD5-4E64-B4FD-8582B87E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005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7A6324D-2BCD-4380-A750-567F2C9F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958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CLOUDWALK IP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48BF20-DF19-4CA0-89CA-2473B10C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6722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21289E-FD6B-4418-B0FE-BCDA2B5F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2440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Delta PL R$ 3,6bi | LL R$ 273,3mi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60C3BD-9FF9-4217-A207-48562AA3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E487F3-E265-4E48-B699-4C9D8C58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Fonte: BCB BLOPRUDENCIAL 4060 local | universo: PL dez/25 &gt;= R$100 mi | valores em R$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C2CAC90-CF2B-4E2B-8694-9494206D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59963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8B81F-FACE-4490-B7CA-B131BAA5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5D821-DD4C-4021-B4A0-365DAC2C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666B7-1013-49FA-AD4C-EE809E80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78D1D-2455-4F96-8449-69C5626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Precisao temporal dos maiores sinais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6EBB4-565D-4258-8A60-5181F3DD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triagem aponta em qual mes a variacao patrimonial apareceu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C4DE5-32CB-413A-AF9D-43F8E133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"/>
            <a:ext cx="2238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D6D6D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6D6D6"/>
                </a:solidFill>
                <a:latin typeface="Aptos"/>
                <a:ea typeface="Aptos"/>
                <a:cs typeface="Aptos"/>
              </a:rPr>
              <a:t>Top 8 por proxy acumulada no 1T26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362B9-8A81-4AB9-B8D1-7764522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865B4-3B5C-4C58-9116-05827689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28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Proxy mensal: Delta PL menos LL mensal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EF978-4204-4B0E-98D7-9DE47758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995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F87B4-EAE3-4B3F-B21F-4E561D74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2193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Instituicao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2E47A-515F-47E2-AF49-1A0340AE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657350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 dez/25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E1F1D-97C0-4568-95CB-FDABCF3F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6573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Dez-&gt;Jan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2B338-B064-4ED0-AB85-C9C9B355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573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Jan-&gt;Fev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C223E-150B-4763-91FB-14CAC1DF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6573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Fev-&gt;Mar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F3F1C-539B-4F06-917D-B4F58E58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5735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Proxy 1T26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380BD-1BF0-480F-AB6F-A3F6F557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65735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Mes-chave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588A4-1FEE-4DF1-A44E-FA4FF0E9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6573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1T26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E6AB8-E74E-4762-9C48-8A002AA3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E34AB-F5FD-4DFA-B0F8-BFC70343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33575"/>
            <a:ext cx="2219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BNDES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9AABD-C7C7-459D-A1DC-6C2FB9B1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3357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R$ 159,0bi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BAA56-F063-476D-BFE3-98C68982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9335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R$ 18,2bi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F77A0-144A-47F9-98C0-57CA8B7D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9335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R$ 3,3bi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434E5D-2325-4B87-BC94-D932A5A9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335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R$ 4,3bi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88947-4E82-4A1D-87BF-46505924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3357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R$ 25,8bi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3A4E9-EE1D-4A5B-B382-9975D94D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9335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Dez25-&gt;Jan26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299E65-7646-483E-AB26-6B141060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933575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2B216-D3C7-46FF-B1D0-A4181800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2C6E4A-1598-428B-82C0-DFB0993C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219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ITAU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68C6C-B46A-4683-B0E9-A6393536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3362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R$ 203,7bi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3C4091-DAE7-4E3A-9A15-5B820F4D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336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R$ 17,4bi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BCE44D-5D25-459D-AB96-6D5216D3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3336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-R$ 8,1bi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A12DB-B352-48DD-BA05-578F78CD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336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-R$ 4,9bi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428DE0-0384-4D43-B944-B75369EA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336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R$ 4,5bi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B4B023-A43A-48DA-A81D-DD2A3922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3362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Dez25-&gt;Jan26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22A201-59BA-4AF0-8280-FDECA20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33625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R$ 12,2bi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C82B65-8E2B-445D-A965-453393C4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779635-D035-4D2E-845F-56C362E4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2219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BCO CLASSICO S.A.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84313B-D41C-4131-AF6F-65FC1B71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3367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R$ 19,9bi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94C154-083D-4922-8205-DC3BCDCB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7336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R$ 944,8mi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9FDE80-E3A1-4A61-B2A7-1B83D30F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336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R$ 991,2mi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12A3AF-3B26-40A5-B514-66FD575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336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R$ 1,5bi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92911D-C51F-4F34-9C70-553DFDC8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404D71-3692-4CCA-B0D0-00720DCD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7336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Fev26-&gt;Mar26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74BFF7-9C04-446D-B5ED-84A1CA26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33675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-R$ 1,2mi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42728A-627B-42AF-9838-408BD4E0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45BCA3-1459-4AD9-A586-34429C9C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33725"/>
            <a:ext cx="2219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BRADESCO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711D2E-AFB3-4815-91A8-83BD502A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3372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R$ 163,7bi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03BDCE-0FF9-47CD-91B6-E130F07C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1337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R$ 8,7bi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319262-D1C2-4D55-A970-7B25FE8D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337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-R$ 1,7bi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5C4FD6-CCB0-442D-A052-39B4F439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337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-R$ 3,5bi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71A30A-F209-4969-8513-E12D7FC4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337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0ADE89-B600-48F0-A9B5-870AD51B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13372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Dez25-&gt;Jan26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08B4A6-D0F2-46C0-9273-F93B518D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133725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R$ 5,0bi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14214A-5F1A-4E51-95A3-10EC5A8E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7DC19D-E19F-4341-8588-DD8A1FC4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33775"/>
            <a:ext cx="2219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CLOUDWALK IP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1EE2E9-0CFD-4C5F-BA55-F00ABB2F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3377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R$ 13,6bi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BDB64A-2CA5-4DA8-8F66-8D69FB09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5337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R$ 307,5mi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3F8FF8-4B8E-4A94-B2BD-69055EAA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5337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-R$ 201,2mi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03613E-4ED5-41F2-A119-57657ABE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5337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R$ 3,3bi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2B5AAA-1CFB-4DFA-A646-3797175D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77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9DCA2C-087C-49AC-8B81-E1389A7A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5337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Fev26-&gt;Mar26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97C085-4476-4555-AED0-7002489F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533775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R$ 273,3mi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612FA1-DA4A-4E84-B1D5-ABBEE20B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5829B9-240F-4C68-BBEF-2515748D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33825"/>
            <a:ext cx="2219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C9733A-F581-48AD-98A2-0E654E29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93382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R$ 177,5bi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1F7037-C55A-4C6F-A9D0-E8C4D005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338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R$ 6,2bi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D3F315-D632-482D-8DB6-63C76956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338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-R$ 1,2bi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D3BFEEE-4B26-46A5-94A0-0361911A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338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-R$ 1,9bi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B73921-0C2E-4AF8-AD4F-D6EC0EB1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338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R$ 3,1bi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FB20835-6FDF-49E6-8CC4-A0BF55CD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3382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Dez25-&gt;Jan26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218598F-328C-457C-868C-ABF83E89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933825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R$ 3,2bi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42D8A3-A52E-4AB3-92F5-A69652FD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FBDE95-D234-4A74-8F53-6CC795A1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2219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BTG PACTUAL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4FE50F8-F81B-47B1-9389-75641B1B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33387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R$ 66,2bi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84D9E8C-FFD8-4148-ABF9-012B21B3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3338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R$ 7,9bi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1324061-7C77-4BA1-8860-E94B7CDB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3338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-R$ 2,7bi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A1A89BA-3B77-4CAC-965B-0FE14E5E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33387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-R$ 2,4bi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F43CB42-4E26-46F6-AD55-BD19C40B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3387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R$ 2,8bi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B007B55-5F83-44B3-AAB3-4600EC78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3338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Dez25-&gt;Jan26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80590FF-0CB8-4649-B015-10F75E2C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R$ 4,6bi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A10F98-6EBC-454E-8BB8-2C9E15DD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FA3C66-A4F3-44F3-964F-C1A5BE99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3925"/>
            <a:ext cx="2219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VOLKSWAGEN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97C8F5D-7589-4316-B57A-B45C6A1E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73392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R$ 6,4bi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BC2C459-1DE8-4BA7-A779-546E0064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7339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R$ 405,0mi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9B65032-3B0C-4239-B691-2B2488E9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7339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R$ 64,2mi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F927B68-C9C7-47D5-8062-B3B2BE84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7339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R$ 2,1bi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D9DE3DC-0511-4F41-A20E-3141DF72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339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R$ 2,6bi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22F5AA-2F9C-4716-B386-62D1581F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73392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Fev26-&gt;Mar26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02F95E6-CD76-4B22-91F0-57D0FB12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33925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-R$ 111,9mi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C212A19-03A3-4DFA-8C63-253CC96D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995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FC1953F-A079-4F8F-9F75-E2C6C2F3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956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Como ler: valores positivos indicam aumento de PL nao explicado pelo lucro do mes. Valores negativos indicam reducao/reversao patrimonial ou lucro superior ao crescimento de PL.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C1CEBC2-01E1-44C7-9954-0A81E5B7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FA09B5A-AC64-417F-B814-291E206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Fonte: BCB BLOPRUDENCIAL 4060 local | universo: PL dez/25 &gt;= R$100 mi | valores em R$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FA20C08-B111-42FE-B523-8791AD63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2179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F84565-D5BB-4336-890A-7AD2B434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8A435-194F-4188-ACA8-7165C693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AA6DB-B0AF-4C48-A754-907982D1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9B55C-C979-48A6-AA11-0E1EDEC1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Lucro liquido | maiores altas percentuais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2EEBB-B7D7-4965-B8D3-A83A34C2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IPs e bancos digitais lideram a comparacao Mar/25 vs Mar/26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9FD53-7D4F-461C-883C-28CAEFE5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"/>
            <a:ext cx="2238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D6D6D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6D6D6"/>
                </a:solidFill>
                <a:latin typeface="Aptos"/>
                <a:ea typeface="Aptos"/>
                <a:cs typeface="Aptos"/>
              </a:rPr>
              <a:t>LL acumulado de marco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92DF6-9FB7-4B79-BBC8-F2417350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97BF6-006C-4D51-B139-943AF30C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Maiores variacoes percentuais positivas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390AD-65E8-4C99-B457-95F47637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1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9F1C3-4C47-46CB-8CF2-4C12D122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Instituicao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7557D-9FA2-42F0-A831-2D4E523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57350"/>
            <a:ext cx="885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mar/25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366BC-EE1C-4792-A1BF-F913EF62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657350"/>
            <a:ext cx="885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mar/26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87D11-67C8-4771-8591-F49BADDD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573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Var.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467A9-F030-4B27-9305-1716B456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298C4-B5D0-44A6-93E4-410CFD1D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BULLLA 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31D6F-EB28-42C2-A54A-19C02229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335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-R$ 2,6mi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628249-6AAC-400A-8C66-8EDC7497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335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R$ 35,5mi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B2A1F-B596-40F2-8383-73246523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335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1.467,5%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D335B-F740-4FB5-8B1E-DE0BEE33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C70AA-7C6F-4A0B-A36C-C20E9455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764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PAGUEVELOZ 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C560F-807C-438B-A3DD-E51775CD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764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R$ 5,5mi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431AE-FFCA-46D2-A446-0388F7AD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764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R$ 52,2mi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1AAA6-4E85-489A-BA3C-DA55B285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764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855,2%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232BF-0BB7-48A5-B05F-3418AD6F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7DD5C-D186-44A3-8FE7-4992B860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STONE 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3A13C1-62E9-4D5A-875F-67B49AF6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R$ 236,0mi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A0CD4-114D-47D0-8B78-8C112DFD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193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R$ 2,2bi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5B0E80-D04E-4C42-91DD-BD3F8387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93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825,6%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F526F-6B39-4AF0-93FE-8EF55B46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FA7ED1-F1AF-43A4-86F2-129F9A4A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ORIGINAL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A3693C-727A-4060-A125-4BB15D85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622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R$ 16,5mi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571045-969D-4F50-9579-05752544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622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R$ 108,7mi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DC7CBD-1EDB-4CAA-8B64-A66EE0BE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558,1%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10898B-AA3C-4D35-951C-0100E6D7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C856C8-5ABE-49F6-A5C3-7E2A6998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WISE BRASIL CC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C7DBC9-C84E-41D8-B929-D28F721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051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R$ 2,3mi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9186A7-0B6E-439F-BCD5-7FBFDDED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051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R$ 11,0mi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698E66-3B2D-4E8D-8ACC-C97F3073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051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384,4%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24041F-1E6C-4C87-90A2-C7FF481A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878320-B61B-4B67-8297-465FFAA2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RECARGAPAY 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32F4A3-36AF-4695-8258-C9FE4F55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480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-R$ 3,0mi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8620C3-BDA7-4B0A-8167-B4EA846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480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R$ 7,7mi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8B7D75-E39E-4406-819D-0324F9B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480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355,1%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B56062-B195-4C9C-AAF3-CF4A407F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522CBD-DD3D-4B6D-B865-5BA3FD7F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BANQI IP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A6C378-21CD-409D-8C0C-AACD1AC5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909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R$ 4,4mi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3BB4A2-25A6-49DB-855F-F7D7C841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9909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R$ 19,2mi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D7643B-290A-455D-913D-63259AD6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909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331,9%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DD3A5F-D568-4D53-B970-ACBCFA37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16F5F7-9E50-444E-BBC1-8BAA2F65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FATOR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115D46-6E73-422D-879E-8E624938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338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R$ 3,5mi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FE6A4B-FBE4-4C8F-8B50-388B4EDD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338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R$ 14,7mi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A0A8B8-6FF7-4201-A814-46565E5E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316,3%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2B02E6-C4E5-453A-B38E-E32A4B6E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153EC9-D8A2-44AC-BCCC-D764622E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EDENRED SOLUCOES E IP AHA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577127-C952-4239-A63A-EFA1BF38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767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-R$ 33,0mi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054A1A-3DD8-46F6-84D1-FD2E4D46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767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R$ 56,8mi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96B7D5-0EF3-49AF-A451-E573B54D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767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272,0%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0A70CE-164F-422E-A8C8-C35F4B59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620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11AF45-3A89-44B4-B7D4-32E331F7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620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Lucro mar/26 dos destaques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548734-32C2-4253-8DBE-0123A7D5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97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BULLLA IP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522933-1B24-414A-A590-7D56E388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478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FF2A70-E397-4386-9C99-7570CCEA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4782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230CFB-7879-45B0-9749-B99CFA85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002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R$ 35,5mi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A2AFFF-9F97-4951-B913-6FB0B4E1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9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PAGUEVELOZ IP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499F69-3C0C-4CD5-8625-F0B2300A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4D6601-3CCE-454F-A172-DC5516E9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2642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C6D6E2-CAE6-47EF-8FB4-16C273DB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002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R$ 52,2mi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2B0C17E-4DAF-43BF-A88A-3F02429B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98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STONE IP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662A17-CB13-4CA7-B97C-E9339E84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479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7C75F12-BD5B-466C-B712-D2A795D0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479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66D865-552A-4494-A232-730B91F4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R$ 2,2bi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2037E5-54DB-4C8D-B154-AEDD7BE8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ORIGINAL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4FB0E56-EC47-449B-BE05-DD292332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3F78CB0-F706-4134-9A6A-3D5C5C8E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5500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8DE4D3-0B17-4E62-AFA6-1754DFF9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03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R$ 108,7mi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BC59411-CA1F-46F4-BE71-0CA93E76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99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WISE BRASIL CC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7FAFF5C-F475-44F1-8F7D-E6D1E9CD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480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52566C5-B8C4-466A-8123-2FCA796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4802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E9D58F4-E664-4BFE-92AB-14C5F544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004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R$ 11,0mi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4FFBB5-3054-4150-B27E-A7DD9371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99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RECARGAPAY IP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3DE423C-CD38-44DB-AA4A-776B6998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A06719D-A408-4E8F-994C-B073B824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476BEE4-3FDA-4633-985F-05E1D7A5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004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R$ 7,7mi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2A73B0B-2BE8-4662-B57F-F778E3CB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00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BANQI IP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1674F31-84C1-4F2C-8DA1-31B0FA46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1022010-833D-43C4-8CBB-B339A3D4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12100D8-D558-49B7-8395-A941B5DD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005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R$ 19,2mi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0B70F10-DF17-4B86-B08C-11538F7E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81550"/>
            <a:ext cx="390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2C49C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380A677-E4E4-47C2-AC16-0893D93F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53000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Nota: variacoes percentuais podem ficar muito altas quando a base de Mar/25 e pequena ou negativa. Por isso a aba de Excel tambem traz variacao absoluta e PL de base.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FF3BA82-E784-4EE6-9177-0D533C9D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2212BCB-B292-420E-9AC8-2FB0AEE8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Fonte: BCB BLOPRUDENCIAL 4060 local | universo: PL dez/25 &gt;= R$100 mi | valores em R$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055B98E-968C-4836-A7D0-615CEA3A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477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7BADD3-FAFF-4FF0-BD0D-DC08BF60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EA414-2C01-43A8-BB96-92139F00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DBB32-27BB-4A75-BDDB-0AB2F95A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5C3BC-5A3A-4459-B928-A14D4B17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Lucro liquido | deterioracoes e proximos cruzamentos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4519D-E080-4AB1-88E1-C56A74F2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cauda negativa ajuda a separar aumento de capital de deterioracao operacional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F3C65-16C0-4F7D-B7A6-F8C488B6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"/>
            <a:ext cx="2238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D6D6D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6D6D6"/>
                </a:solidFill>
                <a:latin typeface="Aptos"/>
                <a:ea typeface="Aptos"/>
                <a:cs typeface="Aptos"/>
              </a:rPr>
              <a:t>LL acumulado de marco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EA963-AA13-4B45-90C1-5B87A071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4C386-3F36-4A4F-925D-BDF08EC0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Maiores variacoes percentuais negativas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122C0-C66E-4438-A3D8-4C7666FE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1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F3506-7387-473D-B678-A2744AFB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Instituicao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6D555-4F7D-43C7-85A0-31CE8AA0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57350"/>
            <a:ext cx="885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mar/25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EB04A-D7DD-4EFA-BB48-1AE51737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657350"/>
            <a:ext cx="885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mar/26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84C3F-55A2-479C-BE3E-2B97FB0E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573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Var.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EE35D-5AED-4EA1-BBAB-B91AB467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B667D-FD4F-4259-B9FC-7557E523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OMNI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7AC34-166D-42EE-9E69-910C7D5D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335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R$ 405,5mil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331D1-0755-45C6-B1CE-EABD957B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335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-R$ 18,2mi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88E9E-553E-4504-A6DD-CEB72ECC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335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-4.581,3%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3C27F-9C70-4306-9D1F-698C7CB2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EB84E-4459-42F0-9155-3232C099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764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BANCO AFINZ BM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1FA52-1DC9-4DCE-9EFC-AA159741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764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R$ 1,8mi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EA18D-1F6C-4B81-ABD3-048F47F4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764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-R$ 47,8mi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86331-6562-45EF-9335-3DBBC5AD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764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-2.728,4%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4E145-9091-4F1D-AF5D-BB6EBB8E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85536-85AE-47C9-AECB-F510AC3E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MERCADO PAGO 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3C7F6B-3C53-4D16-950B-FE391F56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-R$ 2,8mi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9E1F87-1A94-464C-87C9-C0700DD6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193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-R$ 30,5mi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0A7785-9935-4ABA-9693-44D0D08F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93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-1.000,6%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C2A343-6179-4422-AE36-D24031CC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344A3-01A7-473A-A309-53CD1CAF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CAIXA GERAL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342E13-548A-46B7-BF32-51FF17F9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622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-R$ 656,3mil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88409B-5E5E-4F31-B807-B306B54A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622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-R$ 5,1mi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E7E43B-14B4-47B6-A7A3-92EE7D1C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-672,0%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236458-BCCB-4113-9376-BD8E945B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AF26A6-7FB1-4203-AFE3-0A313A18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CELCOIN IP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BDCA38-A906-4D0A-90D4-EA18D244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051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R$ 3,7mi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4E26AA-991B-4CB3-99F8-5475A213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051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-R$ 20,2mi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2C6D02-C035-486E-9253-A5A86DDA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051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-640,0%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C330C1-F1AB-4676-ABC2-99BE5BEB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33B8CF-2B59-45DF-8352-258ED39E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BANCO DIGIMAIS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51E545-66D3-469E-91E8-0AAFD44E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480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-R$ 15,4mi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39B525-3D42-471A-88F3-5A32B3D8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480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-R$ 108,4mi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63841F-2E44-4FB6-AB7F-FED8E875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480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-605,9%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F5BC35-CDB8-4060-A306-DC20D877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488A0C-9B46-49E6-A2F7-9F561A3A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GENIAL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511673-9447-48C6-8418-7A1E247D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909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-R$ 7,3mi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FE9072-B6CF-424F-80FA-EB6D08F0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9909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-R$ 47,7mi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EBBBCE-D3D7-471F-B7A0-24AAD154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909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-553,3%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51E6A4-4F28-4AA9-973B-91E308E3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FDDEEE-A88E-4509-9E92-1F958008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ANDBANK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545F18-BAB1-4CA5-9258-146932F6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338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-R$ 1,9mi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D35707-0C11-48C8-BBC9-FE3C7B31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338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-R$ 6,9mi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5BEF3B-1D33-4343-B143-3483C87F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-260,2%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E3A378-7D40-4D87-A672-C58613FE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D425C5-9A60-48BA-B5D8-987F2DEE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BCO CLASSICO S.A.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E8DFA2-E77A-4E83-B12B-7CC751C5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767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R$ 735,2mil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53385E-C0DA-48F7-B60C-505924AA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76775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-R$ 1,2mi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A3D820-87CF-4C8E-A21E-A42FCC1E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767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-258,0%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04BE46-EAA3-4059-A724-36520EE9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620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8DAFE9-7175-49E1-8751-D4F5FE2A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620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Proxy negativa de PL no 1T26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099F31-511B-43A9-9205-1EA247C5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97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STONE IP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BCBE62-CAE7-42FE-8507-DE1113B7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478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5A6BD16-A4E3-4A54-BB08-E2185F28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478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C19F26-4EB2-4887-9827-233650DC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002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-R$ 2,4bi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73F1BF-BC59-490A-8802-0CD41EF3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9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SANTANDER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7AA563E-8423-445A-AD04-CB1F7BAE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1D0AD4-2005-4F7E-8389-EF075F6E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56249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3538D8-0C7A-4EC5-AFB7-F70B90FD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002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-R$ 1,2bi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F43D01-A810-48FB-BF86-A0EC8F8D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98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BCO SUMITOMO MITSUI BRASI...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0CC46C-29F2-4FB6-8DEB-96C19BDD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479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149CE24-A4A9-4A91-9186-DA4774B4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47925"/>
            <a:ext cx="10432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9677AE-42E6-42B8-BFD8-1F315D6C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-R$ 230,8mi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65B1AE-91B9-46B7-B672-1AEE7B71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SCOTIABANK BRASIL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4667F1F-4C6A-4A90-A7A7-CEB80C70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EC786A5-3BD7-4652-B53B-DC722FB0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8425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D60B78-325B-4EE7-8131-6EF694D4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03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-R$ 186,4mi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F7237D-8A97-4690-9ABD-3DD4E9C6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99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HS FINANCEIRA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C3783BA-716B-4D75-95F2-92A54E35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480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C6D498F-0789-4D30-B3F5-AEE4E54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48025"/>
            <a:ext cx="756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F9EAEEB-8867-4E86-A7CE-02357065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004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-R$ 167,5mi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705F207-CDAD-4457-A2FB-DB814862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99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BCO COOPERATIVO SICREDI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98254E-2FA2-4B84-9B71-5C877170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C37101D-F3FF-4491-82CD-6C402513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5355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D681A2B-B396-4389-8143-2A3BD26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004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-R$ 118,5mi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88ABB31-0A56-4223-8CD9-9F29088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00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UBS (BRASIL)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A90853-3CD0-4563-8539-817A1D5F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6909245-FD0D-44C0-9440-E5042374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532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E719126-0C48-4A31-9DCC-D92156EE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005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-R$ 117,8mi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8FB5D2D-123F-4B46-9D8A-0EC3CF42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4C87CFF-8913-4675-9B28-D06FD20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33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C7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C7000"/>
                </a:solidFill>
                <a:latin typeface="Aptos Display"/>
                <a:ea typeface="Aptos Display"/>
                <a:cs typeface="Aptos Display"/>
              </a:rPr>
              <a:t>Proximos cruzamentos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0BFA5CA-D576-46A3-AE38-3143C54A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19700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E0E0E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E0E0E0"/>
                </a:solidFill>
                <a:latin typeface="Aptos"/>
                <a:ea typeface="Aptos"/>
                <a:cs typeface="Aptos"/>
              </a:rPr>
              <a:t>Eventos societarios, notas explicativas e demonstracoes publicadas para confirmar se a proxy decorre de aporte, reorganizacao ou outro movimento de PL.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C97B377-B8B9-47E5-973D-7C26F4B9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9028F26-7707-4015-8D0E-E1345839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Fonte: BCB BLOPRUDENCIAL 4060 local | universo: PL dez/25 &gt;= R$100 mi | valores em R$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CBDBC9B-CFA1-4905-90C8-E8792D72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1719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2026-06-03T17:49:25.7540000Z</dcterms:created>
  <dcterms:modified xsi:type="dcterms:W3CDTF">2026-06-03T17:49:25.7540000Z</dcterms:modified>
</coreProperties>
</file>