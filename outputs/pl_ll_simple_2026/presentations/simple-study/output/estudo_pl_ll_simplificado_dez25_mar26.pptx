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6eea17db874c5a" /><Relationship Type="http://schemas.openxmlformats.org/officeDocument/2006/relationships/extended-properties" Target="/docProps/app.xml" Id="Rbcf76928da604264" /><Relationship Type="http://schemas.openxmlformats.org/officeDocument/2006/relationships/officeDocument" Target="/ppt/presentation.xml" Id="R131950d1f95043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a51d1a3de345a9"/>
  </p:sldMasterIdLst>
  <p:notesMasterIdLst>
    <p:notesMasterId xmlns:r="http://schemas.openxmlformats.org/officeDocument/2006/relationships" r:id="R46b64dda7ed84430"/>
  </p:notesMasterIdLst>
  <p:sldIdLst>
    <p:sldId xmlns:r="http://schemas.openxmlformats.org/officeDocument/2006/relationships" id="256" r:id="Rb7616f86b1ca4d0b"/>
    <p:sldId xmlns:r="http://schemas.openxmlformats.org/officeDocument/2006/relationships" id="257" r:id="R17f53e9083d941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aa3456a208452c" /><Relationship Type="http://schemas.openxmlformats.org/officeDocument/2006/relationships/slideMaster" Target="/ppt/slideMasters/slideMaster1.xml" Id="R8ba51d1a3de345a9" /><Relationship Type="http://schemas.openxmlformats.org/officeDocument/2006/relationships/notesMaster" Target="/ppt/notesMasters/notesMaster1.xml" Id="R46b64dda7ed84430" /><Relationship Type="http://schemas.openxmlformats.org/officeDocument/2006/relationships/presProps" Target="/ppt/presProps.xml" Id="R2f0a27dd707a4248" /><Relationship Type="http://schemas.openxmlformats.org/officeDocument/2006/relationships/viewProps" Target="/ppt/viewProps.xml" Id="Ra0b1bb2bc533421a" /><Relationship Type="http://schemas.openxmlformats.org/officeDocument/2006/relationships/tableStyles" Target="/ppt/tableStyles.xml" Id="R4dc06a51a34e4a7f" /><Relationship Type="http://schemas.openxmlformats.org/officeDocument/2006/relationships/slide" Target="/ppt/slides/slide1.xml" Id="Rb7616f86b1ca4d0b" /><Relationship Type="http://schemas.openxmlformats.org/officeDocument/2006/relationships/slide" Target="/ppt/slides/slide2.xml" Id="R17f53e9083d9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cdca3ebe734b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ff27933f84f36" /><Relationship Type="http://schemas.openxmlformats.org/officeDocument/2006/relationships/notesMaster" Target="/ppt/notesMasters/notesMaster1.xml" Id="Rdd2aeb435c504e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822d1b1ef24c5e" /><Relationship Type="http://schemas.openxmlformats.org/officeDocument/2006/relationships/notesMaster" Target="/ppt/notesMasters/notesMaster1.xml" Id="R33c2f4e159de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49e2e498e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c049cef2d409f" /><Relationship Type="http://schemas.openxmlformats.org/officeDocument/2006/relationships/slideLayout" Target="/ppt/slideLayouts/slideLayout1.xml" Id="Rfb4955d98419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4955d98419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44550529a4b40" /><Relationship Type="http://schemas.openxmlformats.org/officeDocument/2006/relationships/notesSlide" Target="/ppt/notesSlides/notesSlide1.xml" Id="R34b90219f42a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24b06ff794eaf" /><Relationship Type="http://schemas.openxmlformats.org/officeDocument/2006/relationships/notesSlide" Target="/ppt/notesSlides/notesSlide2.xml" Id="R06377d99f34449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26901-53CE-45CD-AB13-1031294F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78F96-DF05-4F01-9DFD-C4263164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579E5-9C45-43E5-A3E2-7262886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9153A-EBE4-4272-8B72-399823BC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Produto 1 | Patrimônio líquido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8E8D2-FDCD-4326-9BD7-88613D1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Maiores aumentos de PL explicam a maior parte do delta positivo do sistema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A10BA-1B22-458F-A163-BE10DB3E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Dez/25 vs Mar/26 | ordenado por ΔPL bruto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B26FE-D406-40B7-8C8D-16A698D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0B448-522A-4E95-B92A-DDF6F8C9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781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Universo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969E9-0E1D-41F5-84A2-8421493A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781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5A5FE-9862-4A29-A94A-AA8CF97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17811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IFs com PL Dez/25 &gt;= R$100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9F9F5-DF69-416B-A7D7-01CB3AAF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A0976-7ABE-445E-BEF9-6901D16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123950"/>
            <a:ext cx="1781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Aumentos de PL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CC7D9-B53E-41C4-927B-530C07D0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85875"/>
            <a:ext cx="1781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R$ 116,8 bi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67AB8-E698-4730-BD2D-CEBF4EF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33525"/>
            <a:ext cx="17811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delta positivo 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3F63B-6668-4FD5-BDA9-E587CFEC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3E2F5-39BA-4C59-B97C-D93099C6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23950"/>
            <a:ext cx="1781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Concentração top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B4419-DECF-46DA-86B5-C8E32845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85875"/>
            <a:ext cx="1781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74,1%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8EA2E-E969-4BB0-9DF4-9F3E7E2A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33525"/>
            <a:ext cx="17811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share do delta positivo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8307A-865B-443D-9FAE-3C45F01C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2B126-C971-4B7A-9793-35AB53A8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123950"/>
            <a:ext cx="1781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PicPay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14A2A-3F9B-42CF-8F24-DC8FFB44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85875"/>
            <a:ext cx="1781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R$ 2,3 bi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28B2C-D85F-4DE6-B54B-BE7383BF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33525"/>
            <a:ext cx="17811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rank #12 | 65,3%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B2DF6-CFF9-42E2-8676-D8E7E44E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23417-89F4-44E6-9CB1-2BF43B27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23950"/>
            <a:ext cx="1781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Delta líquido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30266-CFC4-43D6-B935-7A318B7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85875"/>
            <a:ext cx="1781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R$ 115,5 bi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5827C-05B4-4382-A71A-FA3AD6A0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33525"/>
            <a:ext cx="17811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altas menos quedas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A2E2C-3903-4703-B75B-4DD7A500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481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Ranking por volume de aumento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E90AAB-2582-4435-A3C8-A204D52D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336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BD808-54E6-4658-A4F0-CC55B7F2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955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BNDES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939025-572E-4443-8858-031E0A9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703552-8304-43F1-91A1-17B41A0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563A5E-5BE1-42C7-8E58-FC8DB8D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8602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R$ 29,3bi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B8010-475A-4471-A903-6F989BA1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32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ITAU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67413-B01D-4FE3-ACDD-EB3A2F25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8130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A99FEB-C70F-4B4C-B8B0-DF0CB769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81300"/>
            <a:ext cx="12880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6BBDC9-D701-42E9-AAB1-C5ED091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3367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R$ 16,6bi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AEB035-BF9E-420E-94C1-78A2DCB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908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BRADESCO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9CF39C-6C3B-47EB-B71D-4FD6EBFD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2895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2BAADB-D4F4-4593-9459-77978F4A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28950"/>
            <a:ext cx="65619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7D47CC-BDD1-4D31-87D8-66FB2BDC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8132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R$ 8,5bi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8775E3-542D-4403-8DF5-90486CD6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BTG PACTUAL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869012-9552-48F5-A199-59625724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7660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8D293C-667D-4971-B957-990B2E9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76600"/>
            <a:ext cx="573759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F0A32C-B845-48FA-8D79-3C854A4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2897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R$ 7,4bi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A1D820-FFDA-4CF4-9CD3-6D052953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BB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5C434E-18B6-48D4-8C4E-3EE4C0D8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2425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3C68EF-364F-48C3-8153-65E36781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24250"/>
            <a:ext cx="49094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6676A8-8788-4C48-9120-2762B21B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7662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R$ 6,3bi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C53EB1-C7F4-424C-9D6F-BA39BEA6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CAIXA CEF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EDB0B5-FDA4-4953-83FA-E716D16F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C59E81-32E9-43B5-97C8-A4A0A4DB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0146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7444E4-3546-4173-BF27-8E8A36BC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2427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R$ 5,2bi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B3E0EC-D0C4-4398-B199-277E532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814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CLOUDWALK IP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843D53-583A-440D-A102-B26F059D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1955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94999A-55B1-46D3-9E03-AEA4F9F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19550"/>
            <a:ext cx="28167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B9881C-620B-48DE-B96C-662A7250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7192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R$ 3,6bi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C5C3F7-7A53-44D3-8283-D335DC3E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BCO CLASSICO S.A.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3E3FB3-A9E7-42F8-A957-962FD3BE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6720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E00BFB-B36A-46AF-B8FD-B47CFF40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67200"/>
            <a:ext cx="26911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315FD3-9B03-42D9-969B-60C0EDF3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1957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058846-A368-409F-9C4E-11751FA8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9. NU PAGAMENTOS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8683C4-7282-46DF-AE06-9191B43C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1485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1D9A83-500E-4917-B80D-C73F085C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14850"/>
            <a:ext cx="25463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7CF13C-1A52-4587-8739-37454737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6722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R$ 3,3bi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CD447E-624E-400C-9CD9-D28370DF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244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10. SANTANDER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BAB221-53E9-497C-BBC5-C2F07D3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6250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7A68F6-068E-43CC-9F8E-7A678332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62500"/>
            <a:ext cx="21975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A59B7B-2810-4D16-84EF-9BBD9F33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1487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R$ 2,8bi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CFCEAA-8209-4CD8-A865-0620AFB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720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11. VOLKSWAGEN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C035F5-C4B2-41CD-8DF7-C1D8E604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1015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0E33C7-B37A-4371-9BDD-A1754E03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10150"/>
            <a:ext cx="190707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D927C33-7548-4BE7-8950-A0AFC77F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6252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R$ 2,5bi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174948-A1F9-41BB-A098-DB989879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12. PICPAY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D516F35-9250-4E90-91B1-0F12E6DB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57800"/>
            <a:ext cx="2266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1123074-5488-4378-B79B-C21FEA51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57800"/>
            <a:ext cx="1755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F3674DA-3CB4-4765-AA79-5967DDDB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10175"/>
            <a:ext cx="819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R$ 2,3bi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B39B62-196B-4704-9BDE-F0142A16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Patamar, delta e variação percentual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EEE3EE-C8EC-42B2-8D83-95ADA631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4E5D2E-406C-4B17-B995-9CE23E4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85779C0-7883-415A-A705-D1165B89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43175"/>
            <a:ext cx="1409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AB1FA6-5973-4CFD-B582-7EE4F1FF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43175"/>
            <a:ext cx="6953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Dez/25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BD0D3F-098C-46B2-BC84-458BBE6B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43175"/>
            <a:ext cx="6953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Mar/26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36FB2F-0268-4E98-9A3E-267371C8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43175"/>
            <a:ext cx="647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ΔPL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62FB2C-5467-4721-9AA1-4E30030F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43175"/>
            <a:ext cx="438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89C515-89E9-4937-9C60-9E69F95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543175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Acum.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1401DBF-896E-4E3D-86BD-616DD590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D580AAA-CD94-4B3A-9105-51E8235A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003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BNDES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3917AA-210E-4EE6-AA76-D9FAB8A1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035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R$ 159,0bi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0DB3B82-70DD-4797-B45E-4BBB190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R$ 188,3bi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5D3A39-553A-4339-A4DC-86913A5E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00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R$ 29,3bi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4B26B4-0237-4BB5-8125-B9914FC1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003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18,4%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2D6B420-CF94-4A68-AD8C-AF464616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8003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25,1%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9CB382-5205-445E-8252-ABBA554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81325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B75918A-E5E9-4F35-95BF-41FB0E7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3847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ITAU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0D872DD-1F6D-490F-B9A4-8137F8F6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3847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R$ 203,7bi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49F1235-3402-4C45-A191-CE8523E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3847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R$ 220,3bi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0374A3D-BDFD-451A-9B72-46673F4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384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R$ 16,6bi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19CC16A-5651-4A80-AC62-DC0197B5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384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8,2%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FA353A-FF72-45FB-8655-88C8D932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384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39,3%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3C661D5-53C5-4B68-AC4E-45485A95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0B29371-A8B6-47DE-89C2-3F844D1C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766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07DC3AE-26D4-4891-9211-2E7CCE72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7660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R$ 163,7bi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6D8B0DF-6FC0-46B5-88CF-A2DD79C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R$ 172,2bi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099D76-3089-4A86-A002-6CA82589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766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R$ 8,5bi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0300A7F-4639-4044-90C6-122FF88F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2766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5,2%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EBAB7E-4606-4F0C-A6E7-8F860F4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2766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46,5%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5FF0DE5-80FB-4355-9509-3A6EB98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57575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ACE209-89A0-4B09-8886-3949224B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147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BTG PACTUAL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D0CBEA1-5B8D-4440-A641-BCA0CC5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1472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R$ 66,2bi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C1F05E7-A08F-478B-96A7-80BF548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1472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R$ 73,6bi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1702163-60E0-4D8B-8327-E7F13515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5147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R$ 7,4bi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99A0A0F-BBE9-49F7-A4BB-7A1CEC8A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5147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11,2%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213A3BD-CB89-418D-873B-229B06F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147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52,9%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19A0CFF-D0B8-4632-AEBF-E0187FF2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74F803C-ED67-4A37-B2FB-3AF5387C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528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F2B86E3-AFCA-47F2-A5FA-7B64DCB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5285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R$ 177,5bi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369E1F3-7B7D-498B-B536-AC83E47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5285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R$ 183,8bi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6993CC6-1A99-45E9-BB67-837E63FA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528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R$ 6,3bi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E55AE48-EE6D-4F2C-A4E8-AF02C114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7528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3,6%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9A8B4C5-6CD7-4C55-B889-3B371D0E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7528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58,3%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A988A8B-A4F8-4AA7-82D8-3925C479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33825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8755FC4-B665-4511-9692-F44454F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9097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CAIXA ECONÔMICA FEDERAL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FB17FA8-D02E-47A6-B62D-25466FEF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9097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R$ 107,1bi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480D6D8-081C-45F2-B356-1D6B8B0D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9097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R$ 112,2bi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C9E0548-6D11-486B-9C23-2D719326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9909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R$ 5,2bi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FBE1AF2-7B95-4A85-81FF-3DFC2D58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9909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4,8%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0C95866-A73B-4635-80FC-A732FE1D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9909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62,8%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F75FFA-FB1D-4B06-B602-A5579FC2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36FAB4F-F88D-493B-8DA5-0D78D26D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291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CLOUDWALK IP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224A7E7-81AA-4F46-AFC0-0A9783A0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2910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R$ 13,6bi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C0AE1BE-AA88-4E78-ACB3-A6299998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R$ 17,3bi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BE4CD4D-D485-41EA-A372-EB8D46E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291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R$ 3,6bi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E09A4AD-2B71-4270-B20E-49EA3D1E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229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26,7%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051D1BE-3381-4603-B338-9C6E6FA4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229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65,9%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4F89014-0CF8-4032-B116-C798FB99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0075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5003DDE-6859-4E49-A2CB-6D17C85A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672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CLASSICO S.A.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576CD4B-4A07-40BC-A662-42DB4776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6722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R$ 19,9bi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3DA0035-CD42-4787-A99F-9F710DBB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6722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R$ 23,4bi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0A4BCD8-E657-4C99-BCFE-1349BD01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672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30EF694-6B97-4ECB-A321-0E90127E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672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17,4%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455497B-D0B6-4158-91ED-57E8C90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4672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68,8%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532E353-C6F3-445D-B33A-E3777F8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2845489-D812-4F3D-B0F6-443CD429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053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NU PAGAMENTOS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CF18066-7B8B-4BD9-A684-BFE7D8DD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0535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R$ 16,4bi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6E58B7F-2C36-439A-9880-E0F22D78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R$ 19,7bi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489090C-9B3D-4ECA-8ECC-40F926A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705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R$ 3,3bi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FCA415F-3F1E-4221-8CA3-6871E675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7053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20,0%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C555B41-69C5-4141-8005-EA28EF69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7053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71,7%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A0C7C5F-4E73-4504-A390-2434A3B6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86325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5E32B1D-7A4A-45B3-B9CA-8FB54848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4347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ED22DE8-AFFB-44D7-97E6-27B5140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94347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R$ 100,1bi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0B5A96B-AE48-455D-93DE-8D738259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4347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R$ 103,0bi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86B9A0D-FF6E-45C9-A8C4-97528239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434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R$ 2,8bi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75C4A2B-F688-4DB3-ACEA-2075C008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9434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2,8%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C6CB17E-E5C0-433A-926F-C0E45C9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9434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74,1%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3148B97-EE2C-4FEF-872E-BE96BDA0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24450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F0FE4B7-BDB6-4B77-B824-0670A3C0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816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VOLKSWAGEN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A73B611-509F-4EC4-8716-CA0FDA90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8160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R$ 6,4bi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7A33348-4837-46E1-9F63-33E2ABC6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81600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R$ 8,9bi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A72FC5D-42E6-44D4-9114-771A33DD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816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R$ 2,5bi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74E8706-7BF5-4637-8ED8-0FF76955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816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38,3%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969191F-6381-48DE-8F4A-43AA51A1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1816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76,2%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945E27D-93A0-46B8-99BF-9131FFA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62575"/>
            <a:ext cx="4914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D89F186-7471-4DA6-B2B6-C6841436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197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PICPAY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227D23B-F97D-4387-806C-7801998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41972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469E80F-9BD7-49A3-8853-1BA81379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1972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R$ 5,7bi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119DE4F-5398-468F-946A-96E38E22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197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R$ 2,3bi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3D663E5-DE39-49FE-9BA5-23198ADC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197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65,3%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641408F-776B-4B57-8809-0581BF9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4197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70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78,1%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6B1AB4F-4114-4978-B6E9-5596EA1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036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2C49C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4C30F45-082E-49D5-A11B-55072193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998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Leitura: PicPay entra como #12 no ranking puro de aumento de PL. Ele ficava menos visível no estudo anterior porque aquele produto ordenava por proxy, não por ΔPL bruto.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F6D93FA-36F1-4136-81C8-EDE3B0C1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661474D-B790-407A-A5EB-5C971FB5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Este estudo usou dados do tomaconta | BCB BLOPRUDENCIAL 4060 local | universo: PL Dez/25 &gt;= R$100 mi | valores em R$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B97A92E-FC4A-495D-9417-6785ABEE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865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78640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F11D46-869A-4F80-8601-7BBB00B0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A7CE2-AF3D-4001-947F-0A95557F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4B18B-DE74-4F43-899E-DD73548D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441D5-6001-43ED-B45D-5B4B768A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Produto 2 | Lucro líquido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06CCD-6045-44FA-B050-E678A711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Lucro líquido mostra melhora concentrada e deterioração relevante nos grandes players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5A5E1-0C6E-499A-B3AF-EA2E8C39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Mar/25 vs Mar/26 | por ΔLL bruto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12E26-AA10-4CB3-8BD4-84BA5375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2E459-CDAC-4601-BC33-1A8B6391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2209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LL Mar/25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C0CCF-B2E1-49CE-B13A-86C357AF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2209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R$ 56,4bi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A7EEB-ACF8-4BB4-8B67-49E4D732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2209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soma do universo filtrado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6F4F8-CA27-46B9-8E2C-AC4D6E95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AD5E6-F073-44E7-B485-A0CFB7B4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23950"/>
            <a:ext cx="2209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LL Mar/26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4E196-FBEF-45DB-A51B-5C054F9D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85875"/>
            <a:ext cx="2209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R$ 49,5bi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F1873-CB46-4B29-A44C-3B3D591C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33525"/>
            <a:ext cx="2209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soma do universo filtrado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2518B-19FD-45DA-8C14-4D10A33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4D3DF-FA31-4342-A6A9-5138F5F9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23950"/>
            <a:ext cx="2209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ΔLL 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0AE70-3EC9-421A-8C58-7188B5E5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85875"/>
            <a:ext cx="2209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-6,6 bi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99A26-A1F9-4DEA-B775-6A36FCA7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33525"/>
            <a:ext cx="2209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Mar/25 para Mar/26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A7F76-8740-4EE8-BE71-8D16FA2E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334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82361-28D9-43AD-8499-8467EC6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23950"/>
            <a:ext cx="2209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Cobertura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D6234-EF60-47EA-878D-5C20291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85875"/>
            <a:ext cx="2209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117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DE6EF-888E-42C9-96F8-61F5629F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33525"/>
            <a:ext cx="2209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IFs com LL nos dois períodos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871F7-9FA2-4294-BC42-13EBA8B0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melhoras de lucro líquido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2B815-43F9-4BE9-8F26-647083EF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145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02F10-F2E6-42CD-8E3B-C66BFD5F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STONE 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F7539-584D-464D-9429-660CCED0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146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6D01A-7834-44DB-AA1E-645028DA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146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06ACD-6DE8-4194-8727-20AB8AA8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669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R$ 1,9bi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EE8E7A-4B47-48FB-86E8-3246D47E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BTG PACTUAL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28048-B35A-4665-A51D-A3477F44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432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9C2916-FB72-4D39-A06D-85F9EE0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43200"/>
            <a:ext cx="15231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40200B-E67C-4927-A6B8-D44C16F7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955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B254AB-21F4-45A0-9D2E-0666B72F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3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ITAU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F6F9B0-0737-4878-BB38-81EADD2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BC3EC-4853-4640-810D-44FE0A52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113889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A9731-B709-487D-B4EB-645C8D5F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241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R$ 1,0bi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795C6-3B03-47C9-A832-31C1BEB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623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STELLANTIS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F9A0A6-DA54-469C-994A-EE693CF5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004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35935-8EF8-4FFC-BA92-9B2CFD06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00400"/>
            <a:ext cx="19316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71C804-1E8B-4DCA-846F-FFF75C3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R$ 172,5mi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91A6C6-42E2-4235-A062-CF122C29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90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BCO DO NORDESTE DO BRASI...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50F973-B5C4-42CB-857A-8A93D6A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46D3F5-33BB-4D08-8C77-15B0C56B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6005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EC84A5-94E4-419A-A5D1-18E16B4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813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R$ 143,0mi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E464D6-2F45-4575-9B74-427E4C5B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SANTANDER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6421DD-B5F4-4557-8232-82DA05D0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576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8444BA-BDDE-4D4B-964C-B523ADC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57600"/>
            <a:ext cx="136837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8C6505-47A3-43AE-B1CA-AE70836A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099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R$ 122,2mi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A41358-09D7-49C0-B24E-8C4D8F01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81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INTER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DDCB78-F2F0-408C-8F0F-3373EAE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862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A592D9-3507-44EE-B865-7BB7C6C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86200"/>
            <a:ext cx="1344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875B74-88FC-4C0A-B155-557B66BC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R$ 120,1mi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3B9F77-E680-475E-AE4F-38053BD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76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GM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64AB92-4E5A-4D25-845B-F58B64F6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148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07ECBD-F5CB-48C8-B20C-DD432C2D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14800"/>
            <a:ext cx="12790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2FD0C5-D7C0-4695-A27E-7F6A83CF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R$ 114,2mi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A535C9-9AB0-404E-B6B3-5A82ECBC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9125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1CFD26-CEA3-4FAF-82BE-70C2AC54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95800"/>
            <a:ext cx="1333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C0CF7F-D66F-4815-AB18-EB9EE785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95800"/>
            <a:ext cx="571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BB41FE-608B-4022-AF2E-5418E98C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495800"/>
            <a:ext cx="571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B5DEAE-5570-4577-8805-EB0BFC95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495800"/>
            <a:ext cx="590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ΔLL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5B0B44-61DC-4E79-BEB7-FAD803F0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9580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D3519B-E582-4E3E-8445-46089B4C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9580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LL26/PL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550AA4-3979-4BD4-B5A3-A177395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3DFBDF-00DA-4FA5-B277-BA2EFF8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7244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STONE IP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A18A46-C478-4E62-9EAE-E5A3250B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7244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R$ 236,0mi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43CDF2-D499-4FE3-9EA7-B77E32C0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7244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R$ 2,2bi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0E34AE9-630A-4A03-895F-B69CE7E3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7244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R$ 1,9bi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7021FC-515B-4C3E-94D7-59F39787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244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825,6%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D341B20-18C0-4B4F-ADA2-4DD414FB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244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26,1%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4394C4-14BB-4E9B-B466-431BFE2B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6727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A6EFE8-4A78-4CD3-8DB3-36E1140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9244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BTG PACTUAL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6F9FA5-76D3-403E-89D6-8131B5CB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244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R$ 3,2bi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28DB752-768B-4125-80A0-2E3420F4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9244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R$ 4,6bi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00AF68-B171-4F62-98C1-AF93AE3E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92442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F9B22F-5EDD-4414-BE04-835E12B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924425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42,4%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6FEF33-5E85-40AB-9BBB-0E7E1762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2442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6,9%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4DF54D-14AD-4488-B4F1-FB16B498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67300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C39454C-1581-4E8C-A6C7-2B82DB8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244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ITAU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3029C8B-D4E2-48DB-A19D-1E0F4FBF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124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R$ 11,1bi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DBEF31-2224-4A9C-81D3-6F74AB6B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124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R$ 12,2bi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1440A3-EB2B-49B3-B60F-EE9A54BF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2445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R$ 1,0bi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C1CE96E-F2AD-4D92-88B8-7800AF75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244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9,1%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A38156-5854-45C3-A474-35F0C153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124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6,0%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9D82B1-C7B5-4CA5-90B8-EBA9C0C3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6732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4DA03A8-26E9-4F9F-ADEB-C5B1061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244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STELLANTIS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44C9F38-0500-4B24-A79A-8EAA1AB3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R$ 144,4mi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EA6DF8-21B8-452C-ABAF-4276E1F1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32447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R$ 316,9mi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1F67397-2277-499A-B3B7-310178B7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32447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R$ 172,5mi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BE952A9-DFEC-446C-8BC2-94D277DE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324475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119,5%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F09DA94-2255-4D38-8DA2-76372062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32447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4,2%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A0B3F7-2061-4673-A87D-183FC4CC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94B8A21-EA38-4989-861C-6A084D77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5245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DO NORDESTE DO BRASIL S.A.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178251-D105-492C-86BB-AA75B780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5245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R$ 357,6mi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C20453F-656B-4CCF-8E1C-21C91FDB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5245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R$ 500,6mi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FA8A423-AF4D-44BE-817B-55DD01EA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5245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R$ 143,0mi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3299CF4-E5E8-444C-8266-CFF7622A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5245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40,0%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75DCE6-5C0F-4BB9-993A-C2F9C24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245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3,4%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AABCDA3-C942-4CE7-A8E9-56A14332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6737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8C30F9-2914-4B72-B67D-A09D8BBD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245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DD35BC8-4FB8-45E8-A40C-899EACB0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7245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R$ 4,0bi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19A086D-E140-4F7E-B308-968BC8F2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7245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R$ 4,1bi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3EC28B6-FEF6-4589-BA39-AE114A9A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72452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R$ 122,2mi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2CCAD5-2743-49BE-AB0C-25041E4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724525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3,1%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E0A954-A6C4-443F-9F51-0672F67D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72452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4,1%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C28AE88-2063-4133-89DA-B0514075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67400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E9F724-7745-427C-AEF8-BDCA4E5B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245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INTER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5B5C14-2940-429A-B798-B5184839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9245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R$ 217,7mi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B8CC4F-D1DE-4A52-A806-3BE1E74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9245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R$ 337,8mi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30CB5CD-E956-431A-975E-30C2FC4D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92455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R$ 120,1mi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DC48874-AD49-4FDC-B78C-801CC118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9245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55,2%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E3624C5-806E-42F3-84B9-67D4C835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924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5,0%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4FF35CF-A147-47BA-AE90-5DF0A6C9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6742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47C47BE-48C8-45E7-BCBE-2A9F8F5F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1245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GM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C218803-EC0E-4112-B38F-46D88948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12457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R$ 102,4mi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502106B-51EE-4E11-BCC6-4F5979D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12457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R$ 216,6mi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666DD5D-8D9F-4C59-A3A6-EBC73D33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612457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R$ 114,2mi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20B43B3-B723-4077-83CF-317ED844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124575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111,6%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3C8DEFA-2C76-45FD-A3D9-AF8BD72A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2457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8,9%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CDDEC07-496B-4FF0-A6B4-BBF03461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deteriorações de lucro líquido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DF108D3-694B-4378-B890-28E606B5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145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58B617-413B-46EF-926A-5E5FE45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BB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92D6AEE-A52F-4FD0-9BF3-D12680A7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A78D28B-4C34-44B1-99F0-36C42F5B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451A7EE-C3C3-4B42-BE19-B82DFC9E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669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-R$ 3,6bi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DE9BED4-6366-4D3F-A2C5-D5BA65D3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051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CAIXA CEF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A407914-D87E-41AD-B839-61E6D7F4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432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0FC540D-6303-4E5B-9C9D-DF9C00E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43200"/>
            <a:ext cx="138700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05622C5-0006-45D2-B4DD-3762F7B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955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-R$ 2,3bi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125D2EE-6B08-4725-81C1-72EAE671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BNDES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7FBA630-FBED-473D-87B2-F1EB027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718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2EDF4EF-CCC6-4EA7-A496-F4760F52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71800"/>
            <a:ext cx="131574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4D36602-6A02-4168-9696-8A03BA1F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241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-R$ 2,2bi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2E3B23-258F-4686-9267-B94C2671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623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NU PAGAMENTOS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5F0E439-F54F-4014-A8CF-2F3840D3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004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992F610-A1BD-496B-9749-CF5CA288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00400"/>
            <a:ext cx="87430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4A43B8-C599-4C9D-9F64-C7A99452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527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-R$ 1,4bi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0AF746A-724D-4A12-AE0A-0D0E09B9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90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BRADESCO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09D2D51-DBBE-4027-B5F1-0A5A59B5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0227C8D-339B-46CE-ACFA-0CE99C60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4735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0F8765C-27FE-4471-9AB0-C99FE1CC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813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-R$ 783,1mi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0A66F27-0143-4AFA-9814-264450FB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19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VOLKSWAGEN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E2D25B1-6CCA-4336-86FB-D74AF613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576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320EA7F-78FA-40A0-98EA-A061BD2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57600"/>
            <a:ext cx="309009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3771514-9DD4-4885-B2CE-C6FED04E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099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-R$ 511,1mi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8EC6F4E-FA56-4445-B1F7-F06B7FD3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481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XP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0FA22FC-3F3B-4227-BC43-0069BE80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862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E911318-8739-4183-8218-49CE1815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86200"/>
            <a:ext cx="175267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C1336EA-2A54-49FE-BEFA-C377A43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385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-R$ 289,9mi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4189CC9-3A2F-4A07-9576-65FAA04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76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AGIBANK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56FDA62-0993-4D9D-8A3E-C9D9D822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14800"/>
            <a:ext cx="2181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2CA7E76-1CB4-4F6D-9A5B-1397DCB8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14800"/>
            <a:ext cx="1249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E20018E-00C6-41DA-B750-3ECC25E1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67175"/>
            <a:ext cx="838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-R$ 206,7mi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0FF203E-CEA8-42EC-8565-AAEEA2B3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29125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C9868A-A7F4-48B3-BCD7-9B6D7FD3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495800"/>
            <a:ext cx="1333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22EA387-C6EB-496F-8E10-ECF6A8B6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495800"/>
            <a:ext cx="571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25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0926D70-27F0-4DC7-B311-C48D1280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495800"/>
            <a:ext cx="571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26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30C446F-22FC-48B4-B9A0-08FE9BE6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95800"/>
            <a:ext cx="590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ΔLL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0B7C49C-A5D1-48FB-929D-B19DF708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495800"/>
            <a:ext cx="38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A3D8634-DB3F-47C2-A176-216A703B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49580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LL26/PL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9479374-0355-4ED2-92DE-BB5A9ACD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67250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6BE6379-20B0-4C33-8B47-417406E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7244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BB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CA6B1F6-27DF-4D4F-9FBB-98309140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244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R$ 6,8bi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8D58265-DB85-4070-8678-6653D52A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7244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R$ 3,2bi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3DFCE13-D509-4CE3-B08C-A739E89E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244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-R$ 3,6bi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6A127F8-5F52-4ABF-9E0D-C545337E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244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-52,9%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7AB3EFA-677A-4116-941B-C9D44051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7244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1,8%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A5E5946-7509-4402-8B4F-E0C64207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6727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3AEF0BA-8391-475C-89A7-A8715F47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9244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CAIXA ECONÔMICA FEDERAL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A9A213C-4E6B-4F53-82B7-B8074AAA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244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R$ 5,4bi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83888D1-AAF2-427F-8645-D00ACE3C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9244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R$ 3,1bi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9C4A8E6-1BA8-464A-9F37-12465139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2442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-R$ 2,3bi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8F64AB3-DB90-41C7-81D9-A5A80655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924425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-42,6%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37060C0-4F62-4051-88FC-FA30DA13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92442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2,9%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BB3A82D-A565-4B6F-B164-6BE6E587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67300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BC96133-7247-4576-B95B-CB37E41B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1244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BNDES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D41994A-30F2-485D-B129-B9D341CD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124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R$ 5,6bi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47B6137-F57F-4C4E-9D39-D145374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124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EB27CD1-A882-4092-9A81-C5913C15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12445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-R$ 2,2bi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4415F06-B488-4B46-AEB8-3A02A3F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1244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-38,7%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87C3029-2315-482C-9E20-F9D967C8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124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2,2%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CA5F775-F2F4-4B5A-90A6-6C3E8D40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6732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68CADF8-7061-4386-B297-F9A96F84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3244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NU PAGAMENTOS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DC9F71B-40B5-4C86-8F8D-7AB85A6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2447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R$ 2,9bi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82FE712-D2E0-49C4-8573-7BFA063C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2447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277EED8-AA9C-451B-9634-A76CD166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32447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-R$ 1,4bi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26F2087-2BC8-497F-A55A-04C7D8C2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324475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-50,4%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4EFBB65-D411-4886-A12C-14C6E6C2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32447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8,7%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5AC9E67-CA2A-47D5-937A-D0EE0EED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67350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FD70A01-1C6D-4595-9959-EFD49ACE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5245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FFE6DFA-1BFB-42E9-A57E-6472BBC6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5245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R$ 5,8bi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91CD0C8-7B84-49A1-8162-E34FD5B6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245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R$ 5,0bi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8905808-B94B-43C8-901A-CF12FEA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5245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-R$ 783,1mi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B4BFACB-D87C-458A-86EB-22A5522C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5245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-13,4%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19E590F-795E-407C-9690-6C3F602E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5245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3,1%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BB43697-9533-47CB-9714-F441E60F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6737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5002C5A-97B7-48DE-92BD-84E9215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7245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VOLKSWAGEN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99A663B-C4CF-4D39-9CE6-DC3D3A01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7245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R$ 399,2mi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2D46498-6D77-48CC-B2C7-9EDF382B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2452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-R$ 111,9mi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06C17D2-A90F-4B30-906D-EC1827C1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72452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-R$ 511,1mi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4AA46FC-2C44-41B2-AD1F-BF018F9E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724525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-128,0%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5638901-C3B9-43A6-8F0D-1DAF2731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72452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-1,7%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4574DB8-B3F3-4210-BA95-8AF2C299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867400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4989DD2-D228-46BA-A256-73FEC63F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9245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XP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7CCBA43-AD61-4175-BAF7-EB6BD5F3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9245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R$ 256,4mi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59E87B5-8A9D-4C15-A1C5-0D243777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9245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-R$ 33,5mi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816AF41-869A-4728-9AA5-A88F8AE6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92455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-R$ 289,9mi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7667949-D73C-4D68-8E46-2D298C4D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9245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-113,1%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708D432-B6C0-4FE1-BBE9-88A41204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924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-0,3%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663B551-019E-4CBC-B511-D94BAF98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06742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39D6541-DC53-467B-8A49-46FB1D4C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12457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AGIBANK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BF99AFE-1FB6-4D7A-B8E3-1A077EBC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12457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R$ 348,8mi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D67335E-67CB-47A0-A0B5-5F50163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124575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R$ 142,1mi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9BF8507-6354-4B0E-BC16-DF0F0DBC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12457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-R$ 206,7mi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17B7011-73B2-4CA9-A015-B974EC85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6124575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-59,3%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625CBBB-7EE7-423F-90D5-0C996AE6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12457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2,9%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A7EA46A-3D91-4ED8-A5E9-491689D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LL26/PL usa PL de Dez/25 como base para dimensionar geração ou consumo de capital.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E66210E-A701-44FC-96CF-1A9D8689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75ADEE7-BA14-4C06-856C-63D80D99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Este estudo usou dados do tomaconta | BCB BLOPRUDENCIAL 4060 local | universo: PL Dez/25 &gt;= R$100 mi | valores em R$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E85EDCB-885E-4720-936D-A4DCE479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865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3769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2026-06-03T18:35:43.2990000Z</dcterms:created>
  <dcterms:modified xsi:type="dcterms:W3CDTF">2026-06-03T18:35:43.2990000Z</dcterms:modified>
</coreProperties>
</file>