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6937a133e3421f" /><Relationship Type="http://schemas.openxmlformats.org/officeDocument/2006/relationships/extended-properties" Target="/docProps/app.xml" Id="Rc6d0f06789864d20" /><Relationship Type="http://schemas.openxmlformats.org/officeDocument/2006/relationships/officeDocument" Target="/ppt/presentation.xml" Id="Re5e4903bfd494b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3008a9f5a04fb9"/>
  </p:sldMasterIdLst>
  <p:notesMasterIdLst>
    <p:notesMasterId xmlns:r="http://schemas.openxmlformats.org/officeDocument/2006/relationships" r:id="R9a58aad66a094eb5"/>
  </p:notesMasterIdLst>
  <p:sldIdLst>
    <p:sldId xmlns:r="http://schemas.openxmlformats.org/officeDocument/2006/relationships" id="256" r:id="R6711fe8fb8f743e7"/>
    <p:sldId xmlns:r="http://schemas.openxmlformats.org/officeDocument/2006/relationships" id="257" r:id="R273b16c9f43e4caa"/>
    <p:sldId xmlns:r="http://schemas.openxmlformats.org/officeDocument/2006/relationships" id="258" r:id="R10966f6b1c5b436a"/>
    <p:sldId xmlns:r="http://schemas.openxmlformats.org/officeDocument/2006/relationships" id="259" r:id="R1ac3136c556a414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b44adffb6c448a" /><Relationship Type="http://schemas.openxmlformats.org/officeDocument/2006/relationships/slideMaster" Target="/ppt/slideMasters/slideMaster1.xml" Id="R9e3008a9f5a04fb9" /><Relationship Type="http://schemas.openxmlformats.org/officeDocument/2006/relationships/notesMaster" Target="/ppt/notesMasters/notesMaster1.xml" Id="R9a58aad66a094eb5" /><Relationship Type="http://schemas.openxmlformats.org/officeDocument/2006/relationships/presProps" Target="/ppt/presProps.xml" Id="Rf58f915385574003" /><Relationship Type="http://schemas.openxmlformats.org/officeDocument/2006/relationships/viewProps" Target="/ppt/viewProps.xml" Id="R7eaa24d809544c7d" /><Relationship Type="http://schemas.openxmlformats.org/officeDocument/2006/relationships/tableStyles" Target="/ppt/tableStyles.xml" Id="R68f7cc5ee11f452e" /><Relationship Type="http://schemas.openxmlformats.org/officeDocument/2006/relationships/slide" Target="/ppt/slides/slide1.xml" Id="R6711fe8fb8f743e7" /><Relationship Type="http://schemas.openxmlformats.org/officeDocument/2006/relationships/slide" Target="/ppt/slides/slide2.xml" Id="R273b16c9f43e4caa" /><Relationship Type="http://schemas.openxmlformats.org/officeDocument/2006/relationships/slide" Target="/ppt/slides/slide3.xml" Id="R10966f6b1c5b436a" /><Relationship Type="http://schemas.openxmlformats.org/officeDocument/2006/relationships/slide" Target="/ppt/slides/slide4.xml" Id="R1ac3136c556a41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41a931ecda4e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de37f4ae384038" /><Relationship Type="http://schemas.openxmlformats.org/officeDocument/2006/relationships/notesMaster" Target="/ppt/notesMasters/notesMaster1.xml" Id="Re77e58bd47b348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d34a364f9c48ab" /><Relationship Type="http://schemas.openxmlformats.org/officeDocument/2006/relationships/notesMaster" Target="/ppt/notesMasters/notesMaster1.xml" Id="R3a777cffdc0347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cc68f1fd8f4317" /><Relationship Type="http://schemas.openxmlformats.org/officeDocument/2006/relationships/notesMaster" Target="/ppt/notesMasters/notesMaster1.xml" Id="R1c1c1ae6ade749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10c940bec64a0c" /><Relationship Type="http://schemas.openxmlformats.org/officeDocument/2006/relationships/notesMaster" Target="/ppt/notesMasters/notesMaster1.xml" Id="R4615e4bb5c9b40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f504161f5c46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ccd9fc0107440b" /><Relationship Type="http://schemas.openxmlformats.org/officeDocument/2006/relationships/slideLayout" Target="/ppt/slideLayouts/slideLayout1.xml" Id="Rb90b5cf3e7c049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0b5cf3e7c049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88f05a95af48a7" /><Relationship Type="http://schemas.openxmlformats.org/officeDocument/2006/relationships/notesSlide" Target="/ppt/notesSlides/notesSlide1.xml" Id="R896661a083e24d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c2083c40cc4ff6" /><Relationship Type="http://schemas.openxmlformats.org/officeDocument/2006/relationships/notesSlide" Target="/ppt/notesSlides/notesSlide2.xml" Id="R687b350019d440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4215f666d49ce" /><Relationship Type="http://schemas.openxmlformats.org/officeDocument/2006/relationships/notesSlide" Target="/ppt/notesSlides/notesSlide3.xml" Id="Rfe7aeba7d2e14f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daf51aabeb40d5" /><Relationship Type="http://schemas.openxmlformats.org/officeDocument/2006/relationships/notesSlide" Target="/ppt/notesSlides/notesSlide4.xml" Id="Rd05d31b575df43a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905110-B09C-41E6-93FB-9621D0B3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F7AEE5-5972-485D-B64E-E7448B51B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EDEFF5-0243-4ED9-8857-0DDA1E40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1915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A1CCB9-B25D-4A52-AD95-2E840375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2875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C70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C7000"/>
                </a:solidFill>
                <a:latin typeface="Aptos"/>
                <a:ea typeface="Aptos"/>
                <a:cs typeface="Aptos"/>
              </a:rPr>
              <a:t>Produto 1 | Patrimônio líquido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3D9BFA-AAEE-4E61-8B5F-82CBD5AC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BNDES lidera por volume; PicPay entra no top 12 de aumento de PL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3AE0D0-5C79-42AF-A4A9-5981672F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D9D9D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D9D9D9"/>
                </a:solidFill>
                <a:latin typeface="Aptos"/>
                <a:ea typeface="Aptos"/>
                <a:cs typeface="Aptos"/>
              </a:rPr>
              <a:t>Dez/25 vs Mar/26 | ordenado por ΔPL bruto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A0C81-EFB2-44FF-8641-30057AC4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23950"/>
            <a:ext cx="14287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Universo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2540F2-3B29-44FE-80C0-B4DA0F1B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8587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125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4F42FF-A971-41BE-80FA-139593CE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1428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IFs com PL Dez/25 &gt;= R$100 mi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49EE77-4733-4C9E-802A-85681CCE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123950"/>
            <a:ext cx="17621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Aumentos de PL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1D55AE-2ED9-49F1-9C8D-3E91978B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285875"/>
            <a:ext cx="1762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R$ 116,8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AD1873-0496-4765-BE1A-01DDD9D2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524000"/>
            <a:ext cx="1762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delta positivo total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93ABFB-B107-486C-B880-6B988D9F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123950"/>
            <a:ext cx="13811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Top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D7AA0E-4846-4098-A4A9-4EE86BE9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285875"/>
            <a:ext cx="1381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74,1%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9948C0-0852-43F7-A96B-C0043839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524000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share do delta positivo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EAD7AB-E099-463F-955E-368FB8D4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123950"/>
            <a:ext cx="15716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PicPay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D2A5DA-F6E3-4412-9918-1E398625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285875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65300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B65300"/>
                </a:solidFill>
                <a:latin typeface="Aptos Display"/>
                <a:ea typeface="Aptos Display"/>
                <a:cs typeface="Aptos Display"/>
              </a:rPr>
              <a:t>R$ 2,3 bi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3B1500-D0ED-443F-B1F4-0EA1B038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524000"/>
            <a:ext cx="15716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rank #12 | 65,3%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1009DD-2C9C-4B4A-B4FB-B62432684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1123950"/>
            <a:ext cx="1619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Delta líquido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6B2A6B-58CF-45C9-801D-B09EFFA2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1285875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R$ 115,5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9AE3E8-8F77-4F7D-B485-E8085E57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1524000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altas menos quedas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269354-B2AD-45E7-99A9-7A02986C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810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Ranking por volume de aumento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F01450-C557-4F62-868C-B41E072C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33625"/>
            <a:ext cx="4810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60BDF1-3D84-4DBC-9535-6DDD0936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955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1. BNDES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D8C364-6298-4728-A6AD-4C71D1F2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336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758DDA-60BD-4D8A-8553-519DC3E17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336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3880D5-71BA-4F2A-B100-73969FEE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4860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R$ 29,3bi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1114DE-D761-410E-B43F-DEA871CB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432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2. ITAU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804A64-F15B-4270-AC70-99D834E1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813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2BF46B-C1E5-4460-B77A-09DA49E7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81300"/>
            <a:ext cx="128808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6E0918-A89F-48FE-A3AC-E04CF5D78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7336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R$ 16,6bi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5404F8-C491-4B35-A97D-BCE8DBEB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908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3. BRADESCO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B1F94B-4B9E-4E45-9D12-9B002449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0289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F587EC-337C-4C10-B33D-61F0671E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028950"/>
            <a:ext cx="65619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243E2A-0A6F-4BA5-A88E-6B3D87243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9813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R$ 8,5bi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5F8AE7A-67A6-408A-BB95-95070AC1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385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4. BTG PACTUAL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BE329BD-A035-4627-8335-877DA2AD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766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3F895B2-D53E-4D59-AD91-F5E767E1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76600"/>
            <a:ext cx="57375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3CBA3D-CAB5-4CEB-9D3E-863305C4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2289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R$ 7,4bi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D7CC466-85FA-4029-8BBE-7F9326D41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861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5. BB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C17C51-C2DE-4653-9E45-2C4301A9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5242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3BBA046-B648-4875-9DD9-EC516E7F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524250"/>
            <a:ext cx="49094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FB44ADB-852F-4105-B7CE-3E705C56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4766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R$ 6,3bi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77B6520-5D0C-4995-84DA-FCABCD88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7338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6. CAIXA CEF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BA5B9F8-1FB8-43AA-9A84-92225F55A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719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6A8FB5D-0DCF-4904-B744-4167D007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71900"/>
            <a:ext cx="40146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C19496-FF93-4E98-99AF-27EB480F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7242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R$ 5,2bi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0945C6-C60E-41DE-96CA-027FA4A9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814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7. CLOUDWALK IP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1377157-F25A-42D4-930E-0B8C2CA2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195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923134D-E902-4DB4-8085-9F63F823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19550"/>
            <a:ext cx="28167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2A870F1-7417-4370-96E9-28F3184B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9719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R$ 3,6bi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7187F9B-DCE4-455A-9093-9AD7B953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291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8. BCO CLASSICO S.A.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185FE78-7C3A-47C7-A8B0-0803F31B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2672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1B92113-19F4-440B-BB43-5BC0FBE0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267200"/>
            <a:ext cx="26911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1612FB3-FD95-4E25-9B85-08022117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2195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R$ 3,5bi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A5A7787-60AC-4E87-A1B9-B19BC269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767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9. NU PAGAMENTOS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05A582A-CDDD-47D5-B50F-18B19B02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51B0248-008D-49AC-9FAE-2CD50624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25463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CBC874E-BCA4-4FFA-AEAC-C2342B7A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4672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R$ 3,3bi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F5D9448-110A-43BE-8F82-59F51586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244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10. SANTANDER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CB04886-89EF-4767-A448-22C674CD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7625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776E6DB-DBAD-4A76-8F4C-EFD5A9FB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762500"/>
            <a:ext cx="21975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18BB572-DD86-4703-873C-743CC87B6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7148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R$ 2,8bi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3587F82-A7CB-41DC-820F-F708FC67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720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11. VOLKSWAGEN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39B34C9-9019-4365-A580-75004CC6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101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4B24E24-4186-43D8-B342-B3E3DFC6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10150"/>
            <a:ext cx="190707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6E1BD21-8893-4B1A-9F72-B3686415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9625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R$ 2,5bi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27CCFC0-8F2F-4137-8DC2-2723A9BC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197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12. PICPAY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457140D-99B4-41FC-99A1-4A153D6BC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578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1358680-54D7-45FB-B4A0-544409A8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57800"/>
            <a:ext cx="1755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8C70EA7-0ED8-4CD5-9492-488631C2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52101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R$ 2,3bi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1D748CF-65C2-4247-A343-FF793C16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14550"/>
            <a:ext cx="493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Patamar, delta e variação percentual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32EB21A-EE5C-41D6-81B3-ED517202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33625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FE130F6-6ABF-469A-862A-1D50A29E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76500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2D59A27-6558-42EB-BCFE-946F7F5E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543175"/>
            <a:ext cx="14097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IF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2140E04-5898-4784-A7DD-B61BCD03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543175"/>
            <a:ext cx="6953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 Dez/25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0D77D4A-C5B7-4196-99E2-5D1A9B66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43175"/>
            <a:ext cx="6953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 Mar/26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10A08C2-7E92-43D6-BBB4-D4D39C8E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43175"/>
            <a:ext cx="6477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ΔPL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C30AA03-C6E2-41C5-ABE5-BCEA7C84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543175"/>
            <a:ext cx="4381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Var.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D26BE58-C489-4525-8913-CA9EB5713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2543175"/>
            <a:ext cx="457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Acum.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242E489-1829-4472-AE93-E1AC0823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ACE491B-68B5-45A6-88FE-DB7D75BD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80035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BNDES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8B9B8B3-E637-422E-AB9B-68FF396D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800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R$ 159,0bi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D34A46E-2F5C-41A7-9649-B358C919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00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R$ 188,3bi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12E37D0-2B67-40D0-9844-8B51A911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8003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R$ 29,3bi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942AD31-3D4D-4D23-AEC6-68B50E413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8003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18,4%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F8079E8-3C8D-4F71-96A2-3FC563DD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28003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25,1%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34689FF-01EE-4499-9BAD-6413D0A0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8132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9FC0FA6-B712-41A4-BF26-6120932D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0384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ITAU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C504EA5-9018-4441-993A-B7FC941F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038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R$ 203,7bi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B311688-9198-483D-B1D5-1E39C67B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38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R$ 220,3bi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6B405C8-EB64-4256-8E7F-46E1A24D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384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R$ 16,6bi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000775C-512B-4B2E-AA65-3920CBE7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03847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8,2%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1EF7F3C-AB0A-480D-8EFC-93DD4725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0384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39,3%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32B6F77-1DFE-421F-A34E-33346C9C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1945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C91CA77-C9D6-42D8-9145-1B48C44F0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27660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BRADESCO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C449797-E096-4F7D-8853-729B5F5A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276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R$ 163,7bi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EA78F39-D271-4713-8C31-769F6F12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76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R$ 172,2bi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63BD568-BFF3-4FF8-BB53-E08598D0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27660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R$ 8,5bi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E797937-E111-44AB-9B5C-99BFD887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2766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5,2%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D6EA644-180C-4F58-A26A-91DB43A4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2766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46,5%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90D463C-6622-443C-844E-867188B6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5757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9780612-D344-4ED1-91BB-14847E75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51472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BTG PACTUAL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DB6546AA-3860-4F3B-B012-27EC53D6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514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R$ 66,2bi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8DE5DE5-C8DE-47BA-AA3D-D06B01C0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514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R$ 73,6bi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69C799A-F4CC-4AE5-8BA9-12C5D2D3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51472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R$ 7,4bi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6728DB2-B1B5-4573-8BB8-CFEB24C5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51472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11,2%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367FC111-8F02-4098-AA1F-61E155E3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51472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52,9%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46CBB44-CA18-4592-BAE2-E0E099F4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72D9F4F-4FAF-4180-BDD9-FB2CE010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75285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BB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CC286C9-C932-4716-A9CB-C9DCC9BA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7528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R$ 177,5bi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1C68D38-5071-4BFC-9099-72435AD9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528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R$ 183,8bi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CF2F650-F872-456E-890C-7E4FFD0C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7528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R$ 6,3bi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BE644EE-63C3-42DE-AB59-4E8F632C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7528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3,6%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11C045B-1409-4E71-AEC2-0AEE38C6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7528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58,3%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20BDD1E4-765D-4ED8-A023-C9ADF2961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3382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0BEAC4F-2255-4FFB-BE08-C8BE9579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9909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CAIXA ECONÔMICA FEDERAL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74A3A195-E347-4742-8E7A-229BFE5A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9909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R$ 107,1bi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352CE67-EB49-4C79-AFC3-55977538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909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R$ 112,2bi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02CFDDE8-D935-4BD5-B155-EA8C29F6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9909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R$ 5,2bi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A2285FBF-A02E-4B13-A089-98F4A8FE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99097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4,8%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8E2920B-61DF-4A8A-A2F7-8645DCAF0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9909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62,8%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416EB56-A350-4732-9C61-FFC87094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7195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F7282F9-33BE-4DB5-ACFB-D3241846E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22910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CLOUDWALK IP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62FB05D7-7661-4C84-BCB4-5B669AC0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2291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R$ 13,6bi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8D61AC69-90A3-4D4F-865D-FAAB38BA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291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R$ 17,3bi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7F9A4EE4-7209-4F52-BEC9-1F799598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22910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R$ 3,6bi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FA3B60BB-F8CF-4E4E-A55C-E8039441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2291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26,7%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9E74226-6D52-49BC-B5F7-FBD7D05F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2291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65,9%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D6B8D9A-C108-4816-A79A-34D5710E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1007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4ADE9DD-98E7-4B62-924C-887EFCBD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46722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BCO CLASSICO S.A.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4B772BF3-1753-490C-9CA9-4F28C118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4672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R$ 19,9bi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9AF5BEE3-EA1B-4D72-859D-2D2B91CB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672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R$ 23,4bi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24FD9024-EE6C-4117-B1D0-F5DDD1B7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46722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R$ 3,5bi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F603C54-72C3-42D3-AC98-D309E8DC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46722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17,4%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B3A599EE-37A1-4389-8590-E79F9EA1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46722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68,8%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D501C3CD-3B64-47EB-8AE5-E73731B9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64FD1ED6-3F2F-4DEE-B31F-B30330B3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70535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NU PAGAMENTOS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54A912E3-C71F-483E-BCEF-DDD0D544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705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R$ 16,4bi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968CD4C3-88F3-471A-BF81-AEF1F452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05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R$ 19,7bi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3D1E81CB-802A-4610-8DF7-7338677A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7053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R$ 3,3bi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F10A3FD-5EAD-422F-8AD3-010DC099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7053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20,0%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8E07988A-7354-4176-9F18-639489EF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7053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71,7%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98F174CE-7419-4BDB-9DDD-0392594F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8632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266606BD-E7F0-434E-BA02-C854BFD5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9434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SANTANDER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478A5E71-1204-4464-A9DC-32FD1F43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943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R$ 100,1bi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6218184B-9D20-4811-BCCB-E7B964C4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43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R$ 103,0bi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62B1CD1D-4630-4EAD-8255-631CF2CE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9434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R$ 2,8bi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2C9DB6D3-2176-4586-B026-4057C738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94347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2,8%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43C15342-33AE-4105-AB33-08A40EB8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9434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74,1%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8E2263AC-76B7-46DF-9380-AF50FF6B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12445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59C801C9-1058-434B-99E7-5E2B01BE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18160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VOLKSWAGEN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B6E7F456-5855-47CF-9558-D08238E6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181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R$ 6,4bi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AAC3C1B6-661C-4F6D-8FAF-063851B1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81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R$ 8,9bi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533A2E81-A4D2-4922-BE06-14FD57F1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18160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R$ 2,5bi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C60FEEB5-50A7-4D35-BF2D-51120022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51816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38,3%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D688B1D5-1280-4518-928D-9880E61B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51816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76,2%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EE07049-8906-4876-BBC2-58402BBA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36257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3AD78FB3-21B3-4A5E-8C81-C3F95E19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41972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PICPAY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4691095-B4AE-419D-B906-CF08C4A0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419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R$ 3,5bi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0091F4D6-40D4-4F6C-8571-293AADBA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19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R$ 5,7bi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04B6BCC6-8136-41AE-B7B5-7369CE80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41972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R$ 2,3bi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93D5028B-9D93-4861-A269-2ED16DA9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541972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65,3%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D8B4364A-B291-4895-B6D3-C084864F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541972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78,1%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28ED64D2-EDB0-41A0-BC70-AAC17E45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9982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PicPay: PL de R$ 3,5bi para R$ 5,7bi; ΔPL de R$ 2,3bi e variação de 65,3%.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5C79A612-065F-4259-AE4C-A87EF02AE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7A6FBBAF-673B-4C60-8E53-405C5CD69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15100"/>
            <a:ext cx="942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Este estudo usou dados do tomaconta | BCB BLOPRUDENCIAL 4060 local | universo: PL Dez/25 &gt;= R$100 mi | valores em R$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6C24D383-8384-45A5-89CA-CE1A810C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8652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0883159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0082E9-54A3-49D1-90DE-53A971B9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EB9728-8AFD-475B-B8DB-BEC057B3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25BA66-E364-44D0-832C-90491A3B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1915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6050A8-98D6-4009-AD89-8532278B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2875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C70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C7000"/>
                </a:solidFill>
                <a:latin typeface="Aptos"/>
                <a:ea typeface="Aptos"/>
                <a:cs typeface="Aptos"/>
              </a:rPr>
              <a:t>Produto 1 | Patrimônio líquido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5D65D7-B7F6-4217-A5FC-F38E5E330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Ranking percentual traz IPs para o topo: Bullla, BMP e PicPay lideram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193CA6-AFF7-494E-ADC3-DA71DA28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D9D9D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D9D9D9"/>
                </a:solidFill>
                <a:latin typeface="Aptos"/>
                <a:ea typeface="Aptos"/>
                <a:cs typeface="Aptos"/>
              </a:rPr>
              <a:t>Dez/25 vs Mar/26 | ordenado por variação percentual positiva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E7BEAA-7DC4-4ED4-A2C5-6DF4EB5B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23950"/>
            <a:ext cx="17621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Líder percentual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23B3F4-9C9A-4829-8706-CDD01B5A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85875"/>
            <a:ext cx="1762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346,9%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19C61-C91D-4FF7-AA04-63AA718B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1762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BULLLA IP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F37CFA-1B23-4E2E-9F96-3BD90423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123950"/>
            <a:ext cx="1619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Delta do líder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FD9E29-D0F7-45EF-8EDC-FC3114AC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285875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R$ 540,6mi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145F26-56DF-481B-A910-B5847EE5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524000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PL Dez/25 &gt;= R$100 mi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1C894F-1BA6-4101-A3EF-1BF48D42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123950"/>
            <a:ext cx="1524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PicPay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359877-9F9D-4F7D-B1A5-44354D2D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2858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65300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B65300"/>
                </a:solidFill>
                <a:latin typeface="Aptos Display"/>
                <a:ea typeface="Aptos Display"/>
                <a:cs typeface="Aptos Display"/>
              </a:rPr>
              <a:t>65,3%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2726B-63CF-4D14-BC36-149FB4D2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524000"/>
            <a:ext cx="152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R$ 2,3bi de ΔPL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8A2D37-CE63-4B16-8ED8-54E60E85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23950"/>
            <a:ext cx="18097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CloudWalk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6EEC02-1BD9-43C1-A7DF-DAB99E7A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28587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26,7%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A7D812-0ABA-4407-9500-83E3740DA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524000"/>
            <a:ext cx="1809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aparece entre as maiores altas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ACD84D-9854-4A11-84D3-E1D5C1A5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810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Ranking por variação percentual de PL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3CA399-9804-41BA-A201-84F251E3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33625"/>
            <a:ext cx="4810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F059E8-AFE0-45CC-9938-B95F02DA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955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1. BULLLA 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2BCC74-5CD9-4CD4-904D-F43A883F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336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BDF2BA-1147-46CA-AD11-6BA456A7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336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B1400C-DFB1-4ECE-8EF2-B21B7F78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4860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346,9%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6BE03D-C5E8-4323-B3FF-C4D33DAB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432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2. BMP SCMEPP LTDA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9664B8-51E7-4B1E-8FC2-7A2E187B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813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47A4C0-BF73-44D1-97B3-47956B95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81300"/>
            <a:ext cx="51225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BDDE28-48B0-4072-A19F-BDFD815D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7336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78,4%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2FA687-603D-4A29-A3BB-71218E7F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908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3. PICPAY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F790FA-3CC4-41A4-8B45-3B02D041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0289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312B78-E62A-4A2E-8EFC-3DF0C88C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028950"/>
            <a:ext cx="4269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702B2B-7382-4792-B29C-93B5FAF79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9813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65,3%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EA1D75-EE6C-4724-B2AD-A591FDF2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385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4. PINE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41C84A-CFB4-4121-AEA8-5128156A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766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418100-4DF0-4EB1-AAAA-1C641A79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76600"/>
            <a:ext cx="26231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3858B2-A2B3-4D01-A0AF-49B9B71E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2289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40,1%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E83B1C-DA57-44E3-A9D9-8EE095AB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861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5. IFOOD PAGO IP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D8C8FE-E958-4ED3-B307-EA852119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5242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7D223C-80F5-4BE6-8BAB-FCB17979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524250"/>
            <a:ext cx="24999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C51534-F237-41DF-AF94-C9D55532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4766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38,3%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0D4BA5-0400-4B5C-AFCC-CA4436F8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7338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6. VOLKSWAGEN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F475F4-ACA0-4039-8D4D-C8CC76D1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719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6A7B118-520C-4B67-9796-8CC5694AF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71900"/>
            <a:ext cx="24993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5AD1F9A-697F-40A5-B583-E5DF5B72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7242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38,3%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9828491-A47D-46D5-A56D-02A783B0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814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7. MÊNTORE IP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DA24A11-FED8-42D9-B48C-82AA3BBE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195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47FE088-9B1D-4A9C-A31C-935C36A54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19550"/>
            <a:ext cx="24758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AAE3542-BC05-4C6C-B189-426C4751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9719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37,9%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84208E5-02AC-4476-9071-92A2A959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291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8. MERCANTIL DO BRASIL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5B10E9-91A6-40B7-BA2E-807616A6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2672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74EB09A-0C59-4932-BE3A-B038E4F0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267200"/>
            <a:ext cx="21861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3373FF-33DE-421D-9CAA-CB796369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2195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33,5%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36350C4-726C-4730-9DF7-6DEC2315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767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9. BCO C6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9EB47E4-AF3D-440E-8BE0-668F7954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C51205D-9541-497B-A1DD-7655DE32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19660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662F5AE-FB4C-47B1-91DD-8AD715DE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4672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30,1%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27A7438-2BC9-4B5B-82D1-0A99D9DE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244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10. CLOUDWALK IP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DE69B8D-3173-477D-AD26-F5BB48F5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7625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9B776E2-4482-4C4D-B63B-D6BB9C80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762500"/>
            <a:ext cx="17422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AC9B083-771B-4DA2-A235-A9B28CA4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7148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26,7%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35F3421-ECCD-4301-904B-AACA4C34C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720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11. EAGLE SCD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727CBB6-7534-4CBD-BE28-3936A53F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101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89DAC5C-4C65-4334-9C7C-880B63DA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10150"/>
            <a:ext cx="15683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3A58CEA-A383-42D8-94C8-B22DCAB2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9625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24,0%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906CDDF-2E00-4C9D-A9D9-260BAB16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197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12. AVANCARD PROVER IP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17E0F58-9538-49C1-9046-77CDF5ED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578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CFBA480-A2E7-4FFA-9CAB-08AEC7A7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57800"/>
            <a:ext cx="13800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46DEC4C-F771-4795-8F8E-BBBCFF23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52101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21,1%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0554F83-5A20-4E89-9F24-A6BF53EE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14550"/>
            <a:ext cx="493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Patamar evita leitura por denominador pequeno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C08ADE8-1447-4DE0-874D-0BB46090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33625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C821A6B-FAED-415F-B872-F2A96D26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76500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5C91911-E2D4-40DE-B137-8C3AE6D1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543175"/>
            <a:ext cx="14097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IF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B64489A-63B3-43AF-9E07-522C55BD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543175"/>
            <a:ext cx="6953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 Dez/25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7D5980F-DA0E-4C19-BE00-5B7EFADA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43175"/>
            <a:ext cx="6953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 Mar/26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576C6B9-4B89-41CD-A791-F7122AF5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43175"/>
            <a:ext cx="6477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ΔPL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3CF1572-807C-485B-B629-6BE37B82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543175"/>
            <a:ext cx="4381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3CE9730-824B-4195-886E-95D18E63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2543175"/>
            <a:ext cx="457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Rank PL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F3FDFE2-4279-412F-8C9D-542EB447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5A219C8-682E-4281-8B64-30064B9A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80035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BULLLA IP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1048FBE-86C7-497F-819B-E91515FCF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800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R$ 155,8mi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1FC7F6A-79DA-4513-92D5-AC38F98C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00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R$ 696,4mi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7945613-EC3B-4F3F-9082-CEADDA6D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8003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R$ 540,6mi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F3993A3-C4C7-467B-9181-597618398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8003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346,9%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6258A14-53AE-4465-B386-CE45B7A8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28003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118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C42CE83-BCEB-495F-B134-C29149156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8132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8FB6DDE-3A49-4BEE-8748-C02E5F02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0384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BMP SCMEPP LTDA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F39ADE4-A019-4689-BCC3-E93927C8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038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R$ 130,2mi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E7A2839-0B10-4397-8EFB-2DD4E857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38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R$ 232,2mi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94D99BE-FA15-4951-9F2C-03019696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384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R$ 102,0mi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6D70C7F-8CE1-4379-849E-2C20961E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03847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78,4%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626DD7B-AEFF-4EE3-95B4-718E280C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0384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121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4F8AEF2-E48E-4393-9265-67C46DB1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1945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12054F9-5279-4AC2-BAAF-0B87EF25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27660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PICPAY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0663BC0-5AE0-4062-98E5-F329FD30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276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R$ 3,5bi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CB69282-28BC-4375-A381-F946F1CC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76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R$ 5,7bi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FD11354-8850-435A-9268-078639A1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27660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R$ 2,3bi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6DB7971-85A6-489A-97B4-9F873CA6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2766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65,3%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857A0F2-0244-4170-8145-25A081F5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2766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8F959EB-1799-4AD7-8E89-BD3208F9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5757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42E6171-D585-4478-A3EA-F370C882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51472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PINE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94EEDB1-BE70-41BE-99A7-13F614A5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514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R$ 1,1bi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92A77E1-A7D8-4F5E-9BAF-43D39F74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514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R$ 1,6bi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16DD902-FCC8-4A62-B8FE-609E2D4E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51472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R$ 460,6mi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9CA3AF48-0FEF-4E90-A770-1E0BB770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51472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40,1%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C316BA6-35C5-4D86-ABCD-E4563941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51472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63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E8585B8B-BFD0-4BEB-AEA4-669E6451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EA1BBB92-7A84-40CF-B42C-BE4CADAF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75285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IFOOD PAGO IP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54520A4C-F2A5-49C3-89E9-6FF84A1F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7528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R$ 232,1mi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C82CCC8-76F2-43F4-90DB-31434BA0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528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R$ 320,8mi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393025A-8956-403C-9324-72FE9F22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7528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R$ 88,8mi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A4E3A62-163E-41E6-977C-99492935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7528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38,3%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EE36E5EB-AA19-4F46-876C-DC5198BC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7528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104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D7EFB184-CB0F-4DED-A599-45CCBDF6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3382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1018DEA-DB9D-48EA-84CA-DACBA7538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9909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VOLKSWAGEN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8BD5620-F8C3-4C3E-983E-1D52D8F3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9909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R$ 6,4bi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A458F35-109E-4EC9-AB2A-9450EB87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909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R$ 8,9bi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CF5FF17-3C36-4B29-A4D5-CE68C39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9909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R$ 2,5bi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B866AE6B-7A3A-4FB5-A5DA-73E5088A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99097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38,3%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D8BA13B-17EE-492F-BB77-7737FFA9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9909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C85E3206-4D49-4161-A2B8-5A4C2685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7195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7CC7D40-C798-4B18-8A03-21DA86AB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22910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MÊNTORE IP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063D959-AFB7-41C2-930B-3CB93A46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2291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R$ 196,3mi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CACECC0-BF90-4339-9E1C-02E28609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291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R$ 270,7mi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E2B81A4-1517-41D2-9C79-89215369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22910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R$ 74,4mi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EEFE69D-F00B-4F6B-8993-7E021C61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2291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37,9%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810C7DD8-5598-4F0A-93AA-B705E94D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2291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110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5FFAEF0D-CEA6-4E93-8481-8C66A64D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1007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6DF7FD62-929E-4938-B573-F08E2403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46722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MERCANTIL DO BRASIL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DD262B3-53BD-4467-AAE7-5DF3DECA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4672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R$ 2,1bi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F2572174-5068-421D-A1DA-5DBF8866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672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R$ 2,7bi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0AEB88FD-2013-4878-B0CD-33A997CC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46722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R$ 688,3mi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B951E79-09B9-4831-AF86-6F9AE6C7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46722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33,5%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56EB43A-A32D-48C5-AEE9-0E5D3274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46722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51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E93EC784-0911-43E5-A4F5-7AF416304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151D07D9-C94E-4BB8-940E-9FB5BE08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70535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BANCO C6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F27A6194-353E-4CBD-9DB8-F159EA61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705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R$ 4,7bi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2A961362-891B-4FAC-955D-0868D056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05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R$ 6,1bi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47064F82-B7B1-42ED-BAA8-4D5F686D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7053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R$ 1,4bi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26315A3F-F5FA-44BC-B598-6AFF1C0A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7053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30,1%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64234EF-C5FD-47E1-9676-A74CA581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7053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78DF9A93-39A6-4AF6-A319-D380B2C9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8632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F8A2AD27-3AF8-4311-9FC2-388054DA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9434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CLOUDWALK IP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226AA902-ECC0-4DF4-9089-75D2FCD59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943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R$ 13,6bi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58A038FF-0C16-4AFA-A29F-2F3ABC36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43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R$ 17,3bi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6047B5D8-004C-45FC-A10E-C82FF53B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9434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R$ 3,6bi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EF89C5A0-FE04-4827-B429-7F7580F1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94347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26,7%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5002A6D-AEC0-4617-95E1-B4B5607E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9434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5FF4A125-AC78-4850-B4C2-5DB9D8DF1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12445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E97F9571-ABC3-4B53-8655-7571AA24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18160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EAGLE SCD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7678DF9E-C880-4AD6-A71B-E5F2DBD8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181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R$ 111,0mi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D585BD6F-EA81-4F45-8E4E-C88B3382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81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R$ 137,7mi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EE148EA0-606E-4B0D-BDDF-80ABAC4D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18160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R$ 26,7mi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7086D57E-DB67-46A5-9BD7-6860E9C1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51816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24,0%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881D623F-72B4-4B15-87FA-33016E0C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51816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125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D95DBADE-532E-4D4C-9001-E3022475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36257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50C303D-BA53-4E8C-BB6C-509DA721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41972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AVANCARD PROVER IP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3B31D2F6-188A-4748-B7B0-D92D8CE4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419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R$ 128,6mi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0BA92C0E-4A80-4711-AE82-8FD5A034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19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R$ 155,7mi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FE262C6F-5CAF-47AD-9455-BC380823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41972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R$ 27,2mi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F09EA6A-F385-48FF-88E6-4CB7A906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541972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21,1%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BB45274D-F5D5-4E8F-A984-C07A4654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541972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122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ED329754-7409-4F29-91EC-FE4E6E29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O corte de PL Dez/25 &gt;= R$100 mi permanece em todos os rankings percentuais.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E73317D5-17B8-44D1-AFBE-072ED7F7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B2B8A923-0486-4E8D-8B25-F2040024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15100"/>
            <a:ext cx="942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Este estudo usou dados do tomaconta | BCB BLOPRUDENCIAL 4060 local | universo: PL Dez/25 &gt;= R$100 mi | valores em R$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5C110046-A193-4D3A-9EFF-141A4063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8652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8397037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2C05E2-F214-475C-B51A-990855CC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07E8B2-E205-4B22-B317-19818887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A4B0D4-ABD1-4364-A4EE-0BB43838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1915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5964F3-5F22-4C62-9429-937E8CB8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2875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C70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C7000"/>
                </a:solidFill>
                <a:latin typeface="Aptos"/>
                <a:ea typeface="Aptos"/>
                <a:cs typeface="Aptos"/>
              </a:rPr>
              <a:t>Produto 2 | Lucro líquido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9E7D78-5734-4E10-A134-15C90915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ΔLL agregado cai R$ 6,6bi; Stone, BTG e Itaú são os maiores offsets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54508D-703F-429F-A616-16329A53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D9D9D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D9D9D9"/>
                </a:solidFill>
                <a:latin typeface="Aptos"/>
                <a:ea typeface="Aptos"/>
                <a:cs typeface="Aptos"/>
              </a:rPr>
              <a:t>Mar/25 vs Mar/26 | ordenado por ΔLL bruto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A0B76E-866A-4CB4-A755-35933EC0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23950"/>
            <a:ext cx="1524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LL Mar/25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8A286-D78E-42D4-8114-8CA2BA76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858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R$ 56,4bi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2BF06E-61B7-4261-9988-6C9AB80D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152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soma do universo filtrado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90EFC4-9135-4227-870F-B182A3E3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123950"/>
            <a:ext cx="1524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LL Mar/26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DC75A-0676-4556-B124-A2211A72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2858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R$ 49,5bi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E74EBA-65D2-400F-8ADD-EC77ABC5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524000"/>
            <a:ext cx="152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soma do universo filtrado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520AED-5C7E-4468-90DB-5035768B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123950"/>
            <a:ext cx="1524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ΔLL total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7A6080-A2BD-42C1-AEAC-1487C39C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2858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42318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B42318"/>
                </a:solidFill>
                <a:latin typeface="Aptos Display"/>
                <a:ea typeface="Aptos Display"/>
                <a:cs typeface="Aptos Display"/>
              </a:rPr>
              <a:t>R$ -6,6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464320-5D59-4DD7-98CC-6D6B124E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524000"/>
            <a:ext cx="152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Mar/25 para Mar/26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CDEEE0-72D1-4D58-ACD9-BD95318C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123950"/>
            <a:ext cx="1619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Cobertura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D35A73-9A91-420E-AAA0-1A70E98C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285875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117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1A49D1-8634-45C2-8604-D03AE2E9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524000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IFs com LL nos dois períodos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E1A0A2-014B-4F15-A0CB-C05AB7D1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0"/>
            <a:ext cx="485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Maiores melhoras por volume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E15E4F-8FFC-4BC2-9BF7-4F35A73D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145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2B8AB3-60D9-4584-AA65-17424B3F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76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1. STONE 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51782-4684-4A35-8AA2-EB818C95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C9158F-4F0F-4F37-8419-33BC2BD91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6F6BD3-2CF4-48A1-9A80-F41B79BE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66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R$ 1,9bi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DEC230-174E-439E-810F-D036DFCB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05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2. BTG PACTUAL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0FD4-CC57-46BF-9BE8-48BF81D7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743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78A413-BBA0-41CA-A7F8-3F926C95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743200"/>
            <a:ext cx="15231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20F779-51BF-40CB-A3AE-42A1E0EC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95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R$ 1,4bi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64E360-C351-4451-A949-0D855522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33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3. ITAU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DF5A5E-E5AE-4BEC-B607-A17B999F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71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E5DFF7-05EA-455E-ABF4-115FDBA33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71800"/>
            <a:ext cx="113889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64A4A71-30B8-4104-B881-BF62CDFA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24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R$ 1,0bi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506272-B8D5-4A38-9502-BB47E5B2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1623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4. STELLANTIS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8B7C60-7823-4AB7-AEDA-E2A1AD95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004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4C61C8-B039-492D-8B5D-B4E3B093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00400"/>
            <a:ext cx="19316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EC570AB-EC18-4475-864A-B7559459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527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R$ 172,5mi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0096A6-AD4E-47BE-829B-72BA41E4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909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5. BCO DO NORDESTE DO BRASI...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0129AD-EB28-4B99-A741-F2C774A3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4290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83AF1D-7A77-4B90-917F-A7BA3611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429000"/>
            <a:ext cx="16005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127AB3F-B856-4156-94DB-CD91D51E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813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R$ 143,0mi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76CDB2-2B2C-45FB-A040-6A7F572A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19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6. SANTANDER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FF9943-BF44-43B8-97D5-30B97AFB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57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3F48AE-FBCA-4948-8555-7DD1BAA3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57600"/>
            <a:ext cx="136837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A8CCE9E-84F4-4921-9941-1FF5D561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09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R$ 122,2mi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96E42C2-B371-4EFD-A2BD-31C15D5F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48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7. INTER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EFE2226-CE2F-437B-9CF9-5DECB80E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86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B3CBB97-028E-499F-BD9E-CCF14486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86200"/>
            <a:ext cx="13443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CCAC2D-0E72-45D4-B8C5-3E638042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38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R$ 120,1mi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6E1C9CB-DAEE-4DC1-9A54-B615BDE8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76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8. GM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759AD6D-C156-4D19-98AB-87B14697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114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A9AE1DC-B2C3-475A-B08D-B0760B5C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114800"/>
            <a:ext cx="12790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297EC69-591F-4EFA-96B3-91AE746A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67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R$ 114,2mi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7DC6FF2-E53C-4A89-A3CF-9B9E65C3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29125"/>
            <a:ext cx="4476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58A3812-3FB4-40BC-A209-576F4120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495800"/>
            <a:ext cx="1333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IF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46A0CAD-D45C-4CF1-945E-CB3564A0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A1A1315-E673-4642-803B-52ED6D99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597BC1B-8DC7-448F-9345-51EB6A8C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495800"/>
            <a:ext cx="590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ΔLL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D8F6438-AA3A-4683-9E88-001880FB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495800"/>
            <a:ext cx="38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0FF92DF-75FB-4440-9899-8B1F221E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495800"/>
            <a:ext cx="457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LL26/PL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1897BFC-E110-4000-8F32-993C232F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672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34A9524-A7F3-4F70-BA13-DB503DBB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7244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STONE IP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3E036D1-E213-438B-ACD8-0963B0A7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R$ 236,0mi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FEEC05E-5841-4A1F-9C84-F68FC687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R$ 2,2bi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F2E40AA-BD12-41E0-B3A9-FCFAA4AC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7244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R$ 1,9bi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D0DA982-36D9-4323-89A6-9BBF5FFF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7244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825,6%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4E0D32C-A3F7-4B44-AD26-2C6B3E48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72440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26,1%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BBD1393-60C9-4FE6-9DAE-D3A7B6BB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672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B5E89ED-3A2D-4D70-A587-59209FEC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9244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BTG PACTUAL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E2258FB-E554-4D42-ACED-3E431BF6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R$ 3,2bi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ED50272-8089-4CD4-B9F7-9F30489E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R$ 4,6bi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FD811C7-F9DC-42A1-9468-CE51692C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9244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R$ 1,4bi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BBE8F67-AC25-4BC4-8430-1BBA0C8A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92442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42,4%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862967A-C045-4D13-B33E-576BF7B3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2442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6,9%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507139C-7587-4D8C-BDD2-0A8D984F0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673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7FBD26D-BCF3-4C07-B07C-B7C05F49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244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ITAU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8ABA63D-FE5B-4DB6-B403-129817AC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R$ 11,1bi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FB66582-96B5-4685-ABB6-FBE3C6DB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R$ 12,2bi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2205609-EFB9-4A33-AD46-90918E3AD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1244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R$ 1,0bi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E3BED15-8BFD-439A-8527-ACEB2A88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12445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9,1%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CAE603D-E756-4BAB-83A5-0B43BE31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12445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6,0%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D51A1E5-FC83-4DC3-84C2-B9337C4E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673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1C2BEB7-9910-4085-B734-266580B1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3244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STELLANTIS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7AD03B1-A1AB-4FAB-84FB-9B633C0E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R$ 144,4mi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E52D4A7-445A-4688-B72A-CF59B95F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R$ 316,9mi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A06A66A-59D6-439E-88E7-28B063DE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3244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R$ 172,5mi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BC3F872-C30B-4140-B3C2-D6A505C5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32447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119,5%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D0A7933-2EF9-4FB6-9C5D-953DDFD5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32447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4,2%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1710555-CA54-4E7F-9F94-5CCC222C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673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641E3C5-9D87-4E37-9172-14AD3898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5245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BCO DO NORDESTE DO BRASIL S.A.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58F9D0E-21D8-4972-A74F-D6028B1C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R$ 357,6mi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129D9FF-29C0-4C59-A547-658EAB467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R$ 500,6mi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C4B441F-3107-48F1-BB99-98C4E88E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5245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R$ 143,0mi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2A898C9-9A2C-4226-A988-2DC68B40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5245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40,0%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6F24CE1-D717-4F77-9D23-D3AF74BE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52450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3,4%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4515FA9-72DC-4FE4-ACE8-8A8034B2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673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F94BDF6-3ADD-4221-925C-606706D9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7245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SANTANDER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2DE796E-9EF3-43AA-9A84-FEDAD84B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R$ 4,0bi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025221B-BB6D-421C-937B-0C11BD1A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R$ 4,1bi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15BC67B-F74F-4113-951E-2114F1AC8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7245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R$ 122,2mi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E5521E1-A560-444D-B446-3A970E3B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72452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3,1%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CEB74A5-E663-4B32-905E-F422F04B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72452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4,1%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E3527BE-7CF3-435A-9DE9-54D7AB69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674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179126A-FC0C-461F-83CF-84F0C93A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245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INTER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7B110EF-7B19-4B28-8792-815FFB2A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R$ 217,7mi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F5176CDF-FEB8-41B2-90D6-6C9A12CE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R$ 337,8mi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DCB80EE-43CE-4E69-97BB-8B48F28A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9245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R$ 120,1mi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B26E5CB1-80AE-43F0-8015-E419B736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92455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55,2%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56037FD6-3C69-4C52-A72B-78337880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92455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5,0%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5DB5118B-9C38-4D09-953D-01705DC7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674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B7BEC2D-00B1-4CF8-BB76-EC9C9F2E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1245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GM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9EDEEA1-B3C1-4673-B820-8DAB7B31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R$ 102,4mi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6C04C8D3-1060-40D2-910C-9AC6414F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R$ 216,6mi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2856D59-EF77-4526-9FAE-1DD7DCD4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61245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R$ 114,2mi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6986D12-218E-4E98-9972-75C864C2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612457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111,6%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F06A57D6-2C86-4618-B458-8B2DD31D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612457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8,9%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08DCCB2-A0DC-4324-ACA1-A0F5F325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95500"/>
            <a:ext cx="485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Maiores deteriorações por volume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68DAE65-D63C-434B-A109-50E02149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145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C6B79B8-E335-455B-9F61-4F74BC6E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76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1. BB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EED6ADC-AE44-4678-8426-9116AFA4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5F5C3C8-CB68-4B05-8CAB-13D90428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2110EB57-D518-4F0A-82E9-E1392F2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66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-R$ 3,6bi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9E7510F-9541-4086-8E35-A2E4ED8F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05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2. CAIXA CEF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05F284E2-DFF1-440E-B21D-CAD391A1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43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1323726-94D3-4422-81E5-6EA5122F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43200"/>
            <a:ext cx="138700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A28BE18-535F-4C68-97E9-C580F5CC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95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-R$ 2,3bi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52A4D833-F2D8-4EB4-B550-B797C9D9C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933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3. BNDES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BACF8FB4-97CB-4AD5-B6C9-F2F3AC10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971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6E9AD528-EAA9-4109-921F-EFD1C454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971800"/>
            <a:ext cx="131574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796DCCF-ED6B-4388-8062-E6A2FD9E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24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-R$ 2,2bi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A6C43439-D9BB-439D-83A9-760A279C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1623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4. NU PAGAMENTOS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793E912-6A66-43F7-84DB-3F76F2C8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004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D425E62B-7F01-48F2-BDBA-CF92E0EC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00400"/>
            <a:ext cx="87430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BAE17D0-C311-47EF-8702-6A70D474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527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-R$ 1,4bi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3722386D-2546-4F07-8E13-0CDA4D44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909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5. BRADESCO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C14A6691-63EC-4F4B-B1F2-DD172A14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290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DCEE02AD-2084-4905-8244-FCADCB05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29000"/>
            <a:ext cx="47352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3E4C87E4-8D4D-4A4C-B2F4-912B8AEF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3813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-R$ 783,1mi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C13FAA32-1392-451C-9976-9D8FEC38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619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6. VOLKSWAGEN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1641029-32DD-4FE0-80EB-114AE494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57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182C037E-42A9-4533-BA42-CE163CE1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57600"/>
            <a:ext cx="30900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E69C8129-5E63-4A90-A64F-38E3BB79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09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-R$ 511,1mi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B365DB33-8615-4C7E-A320-35170B921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848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7. XP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77842C98-37F4-4DC8-A409-BD3F1788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86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F212495C-E5E2-4154-975C-45D45E4C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86200"/>
            <a:ext cx="175267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75B0C69D-7580-4A65-8081-5090E59C6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838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-R$ 289,9mi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A6D16865-B4A9-4E0A-85C9-4D126B91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76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8. AGIBANK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EFC4AEF7-3043-436C-AF24-26D48208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114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3C429B55-DEA7-48EE-970B-6F0C3D82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114800"/>
            <a:ext cx="12498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0EBE4A08-F25D-4B41-B979-40AD6C9B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-R$ 206,7mi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BB633072-0D99-4F01-B42A-41B40498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429125"/>
            <a:ext cx="4476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14069507-DE7F-4E62-A918-907C7E12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495800"/>
            <a:ext cx="1333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IF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3D264D80-A0BC-47C7-875C-697D7501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25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DAAF2EF-67AA-4B9B-8FDC-0B9E3B75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26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5F4D807D-BED6-4BE4-A94E-B3DC45ED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495800"/>
            <a:ext cx="590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ΔLL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AA241583-A62C-476E-AC98-8C23B817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495800"/>
            <a:ext cx="38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Var.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0BAA5CDC-EA6D-4587-9BF4-88A968FC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495800"/>
            <a:ext cx="457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LL26/PL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73AC8590-E4A8-4665-8F8C-64303C58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672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F12DABAC-3973-4E0C-83F3-C5E63D26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7244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BB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69A8339B-3560-46B6-A5E2-DDAAC1E7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R$ 6,8bi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58784D90-60E1-4763-8B0B-485CF4C5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R$ 3,2bi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5661FFE0-53AF-46B4-99F8-77623BF6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7244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-R$ 3,6bi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82CB5245-F386-4D4B-8FB8-8F850049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7244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-52,9%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EB79557B-3BEA-4B73-B841-861F1EC5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72440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1,8%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5DA0ED0-FC55-45D4-9893-87C4D9A7E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8672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56F7B015-63CE-44AA-927E-1F13FFAB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9244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CAIXA ECONÔMICA FEDERAL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E2E39BD1-034E-453C-80CD-62CEBDD8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R$ 5,4bi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520FD50F-CD5F-4BD5-9603-90FC6D97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R$ 3,1bi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549976CF-7003-4C19-9B1E-26D48B43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9244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-R$ 2,3bi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7A01A94E-C8B8-4348-8E3E-2C1B2DB2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92442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-42,6%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5D6CFD7B-855E-41DB-A753-B347EB98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92442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2,9%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CD498AC7-CD7A-4B81-BBA6-B0BBAA84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673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3D21ED9E-C0C3-4D76-975F-73DED01F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1244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BNDES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FE03A53E-84F9-4B1C-8671-4FC0ABB7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R$ 5,6bi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3D9E12AF-4866-4762-9429-89459C39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R$ 3,4bi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AED24EB7-5FDD-4ADB-9B75-DBBE3674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1244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-R$ 2,2bi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0D24C051-6483-404B-AC47-D12CE032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12445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-38,7%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97387F03-F98F-43EB-8A01-43784AF1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12445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2,2%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CDA1685-16BF-4E56-B2C8-66B678B9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2673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D3BD3BBA-78AC-46D5-B477-5D824DAE0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3244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NU PAGAMENTOS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BA9A8A55-BA29-445F-8FE8-9A9C26B8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R$ 2,9bi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CE0D2786-495F-4DAF-BB2D-563E4C11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R$ 1,4bi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78129455-48AF-4FA7-9E75-F1BC160C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3244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-R$ 1,4bi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6F4EE95B-390B-4E22-95E7-8726EC46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32447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-50,4%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0B4A4A82-0D02-4DE3-93FA-3A24068F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32447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8,7%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5D7728D6-DEB7-4B28-951D-E59682FA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4673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56D7B31A-F405-4AA6-86A5-5360F175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5245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BRADESCO</a:t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C7039D45-CF25-4BA5-BEF3-024AE609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R$ 5,8bi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0EED4F64-7E47-4E2C-95DC-F0093AAE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R$ 5,0bi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01DD4268-7738-42F4-ADCD-E56ED193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245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-R$ 783,1mi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483CFEE3-94BA-41AA-ADB6-E581A044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5245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-13,4%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0A78FCEE-9C27-46FE-9CC8-76812A2F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52450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3,1%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D0EB9375-C552-4424-A70F-E91F2513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6673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23EE0B35-C6EB-40BD-8E86-82E4D3AF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7245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VOLKSWAGEN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49FB0B19-1D84-4130-8F5E-2FB1DFAD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R$ 399,2mi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C67F25E5-C8E5-4226-BB1C-7795D470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-R$ 111,9mi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7BBEF714-4CAA-4315-BFAD-E22104064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7245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-R$ 511,1mi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BB36423A-8220-4398-81F8-578F0016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72452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-128,0%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4094CACD-B8CB-48B4-8D71-933A9F085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72452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-1,7%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DBCAE96A-BDC0-4A45-BB45-065E6B35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8674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9F8A2936-E5E4-48E6-93C4-A9C54B47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9245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XP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C68919C2-B72F-427D-A5BC-6A47A23C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R$ 256,4mi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35C85676-76CA-4902-AC23-24AA49F9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-R$ 33,5mi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DA8D5640-C3A9-45BE-8423-43A3145F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245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-R$ 289,9mi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D2C97EE2-E6C2-445B-B400-26A5F550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92455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-113,1%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01FA9CA5-66D4-4B83-AD0C-F5452187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92455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-0,3%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D79056DB-2556-43C5-A652-D3512B04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60674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DED2FDE6-F90B-4DD7-B362-57DFE872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1245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AGIBANK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E200DD8F-1D62-49FE-9AEC-FB571825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R$ 348,8mi</a:t>
            </a: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74C0FCA0-E5CF-47BF-AF45-3B5B8790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R$ 142,1mi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1DEC82D4-1526-4482-9335-C4FBE23C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61245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-R$ 206,7mi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D4371BAE-616F-4DD7-B4AD-29A289C7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612457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-59,3%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FF9359F2-C246-49C1-94E0-F0A1197D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12457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2,9%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B2C58285-3D42-4C6E-9D2B-0ABA766C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386F6C1B-87E9-4D51-9DCE-C7AF6AA6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15100"/>
            <a:ext cx="942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Este estudo usou dados do tomaconta | BCB BLOPRUDENCIAL 4060 local | universo: PL Dez/25 &gt;= R$100 mi | valores em R$</a:t>
            </a: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072CA196-6B68-411B-8B78-C115254F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8652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0799069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D3A351-A65A-4748-9616-C75E9B6E2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891317-B271-4744-9F03-46F12C35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4F858E-B52C-4442-B2B1-6707A77C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1915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AEAAC4-8DC1-4F0A-A16B-D59FC787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2875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C70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C7000"/>
                </a:solidFill>
                <a:latin typeface="Aptos"/>
                <a:ea typeface="Aptos"/>
                <a:cs typeface="Aptos"/>
              </a:rPr>
              <a:t>Produto 2 | Lucro líquido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1BAB1B-497E-4467-A656-E3769D09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Percentual de LL evidencia IPs e viradas de sinal; patamar fica ao lado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AE2AB2-B35E-4503-8CAB-A12C02F2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D9D9D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D9D9D9"/>
                </a:solidFill>
                <a:latin typeface="Aptos"/>
                <a:ea typeface="Aptos"/>
                <a:cs typeface="Aptos"/>
              </a:rPr>
              <a:t>Mar/25 vs Mar/26 | variação calculada contra |LL Mar/25|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B81280-524C-4CA5-8722-9F5FD5F2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23950"/>
            <a:ext cx="18097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Maior alta 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F3E7D3-71A0-4895-AE2B-F712E94E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8587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7A44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17A44"/>
                </a:solidFill>
                <a:latin typeface="Aptos Display"/>
                <a:ea typeface="Aptos Display"/>
                <a:cs typeface="Aptos Display"/>
              </a:rPr>
              <a:t>1.467,5%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BDD03D-F175-499B-84E6-AB162F31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1809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BULLLA IP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83D215-C33C-49B8-8959-0B28EE0B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123950"/>
            <a:ext cx="204787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ΔLL do líder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F055A5-BC95-4D32-AE73-D88F0AAE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285875"/>
            <a:ext cx="2047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R$ 38,1mi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0BA09-53C8-46BD-A6E4-C7DF1EB6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524000"/>
            <a:ext cx="20478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-R$ 2,6mi para R$ 35,5mi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7C5D9F-3E3A-40DB-B089-BA28A172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123950"/>
            <a:ext cx="18097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Maior queda 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93ED03-CFA5-4004-84BF-6D6C7FD3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28587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42318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B42318"/>
                </a:solidFill>
                <a:latin typeface="Aptos Display"/>
                <a:ea typeface="Aptos Display"/>
                <a:cs typeface="Aptos Display"/>
              </a:rPr>
              <a:t>-4.581,3%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17CC45-54F4-41F4-948E-DD0D64B7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524000"/>
            <a:ext cx="1809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OMNI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E881E2-4BD3-47D3-9E1F-662F9C1E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1123950"/>
            <a:ext cx="204787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ΔLL da queda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93C33F-82FD-463E-BFA8-7A9BDB91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1285875"/>
            <a:ext cx="2047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-R$ 18,6mi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05B12-439D-4FAF-B87E-E357721B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1524000"/>
            <a:ext cx="20478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R$ 405,5mil para -R$ 18,2mi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B28AA5-CC3E-489C-8893-42E2BB4E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0"/>
            <a:ext cx="485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Maiores altas percentuais de 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5F6BFF-3128-4731-8B00-EE410C07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145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34BDBF-740C-4755-996D-C774982B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76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1. BULLLA 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82BD2E-491F-4C47-9AA2-67B08AA3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739B8A-4FEF-4488-8CC5-9F4AC7A45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897FA4-E666-49BC-8501-EBE1EAA8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66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1.467,5%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A2F05E-C05C-40C3-90BA-CF7AAC6E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05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2. PAGUEVELOZ IP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7C70B-8685-4B60-9E2A-B3DD1D67F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743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F8448C-45C0-47BB-842E-55CC4641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743200"/>
            <a:ext cx="127107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7BD860-BA9B-490F-A202-A3CAD40B5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95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855,2%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3BDB79-87A4-48FA-88F5-C49970B9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33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3. STONE IP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20B426-6D9D-42DF-B757-6E0D05BA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71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1C8CCF-1913-4061-9459-CAB4F78F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71800"/>
            <a:ext cx="12270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A66C24-8B39-471C-9BD1-90A89213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24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825,6%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AD3EDC5-5E87-4CE6-83DD-AE2A0CC8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1623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4. ORIGINAL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FAB8AAE-6D7D-4EDB-B02B-620B2070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004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84D5B2-6D26-4FC7-8164-D0D8780D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00400"/>
            <a:ext cx="82952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10B614-420D-4B91-BA21-71F6B44C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527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558,1%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C4600C-4462-4FDB-8165-7185A7C2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909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5. WISE BRASIL CC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CD7F4D5-8184-4AB7-A259-248E64DD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4290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F0E9046-DA84-43E2-B3EA-FE5B091C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429000"/>
            <a:ext cx="57142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83B14EF-C314-402E-A7F8-1125998C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813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384,4%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67AD253-FF1A-4911-A50E-5E3E264F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19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6. RECARGAPAY IP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A49FE2-21C6-42C2-8A00-1C9F408FE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57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C6B9CF-2EC9-458B-B13F-CA9F1802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57600"/>
            <a:ext cx="52775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A3BAE6-F81D-4AC4-9554-70E92AD9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09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355,1%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86CF40-369E-4F9D-83B2-7F84D702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48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7. BANQI IP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9748BDF-49B8-4F9A-A6C3-8611CF50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86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679893E-B4A1-4484-960B-E5BDD7CE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86200"/>
            <a:ext cx="49334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8177DDE-E268-401D-A5FF-DFB327B4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38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331,9%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A0F467E-6555-45F7-AC61-517AAC0E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76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8. FATOR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068C90D-CA95-4CF9-9903-2FE57903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114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9ACFFC5-F7D3-4252-8201-29D985A0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114800"/>
            <a:ext cx="47014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311EE4-BFB5-4E89-AD09-AC9FE495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67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316,3%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6E4D97-346A-4C3A-B981-303AD8217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29125"/>
            <a:ext cx="4476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E7D0140-2841-4F9D-9E42-04DA9D41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495800"/>
            <a:ext cx="1333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IF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0AC6437-C53D-430B-BB85-64A7F836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06697FC-AA73-4717-BA71-FF60A182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8BD70D3-CCCA-499E-9C53-FFE1F540E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495800"/>
            <a:ext cx="590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ΔLL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50BEA21-4A2A-4638-913B-FC12EE00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495800"/>
            <a:ext cx="4191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6ACD357-5670-43AB-A34E-F1D40497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95800"/>
            <a:ext cx="4191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LL26/PL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FFB6523-B034-4012-B923-9BC6219C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672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994CC8B-2BA8-4EB6-8B2A-0A67D8698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7244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BULLLA IP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39CBD12-8949-42C6-B2A0-BF366A18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-R$ 2,6mi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230B185-00B6-4C48-B86C-4777D9F4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R$ 35,5mi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CB2E6E2-C61D-45CC-90D7-6DAB2307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7244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R$ 38,1mi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1E07798-77FF-4B67-A41F-41602A079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7244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1.467,5%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24A226F-1CB2-4DF3-8170-EF072E7C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7244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22,8%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511AA83-BEE3-41CF-B5A8-9016CF75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672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0012506-518B-463B-BF01-EB7B22964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9244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PAGUEVELOZ IP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9F720D2-827C-4507-B8C1-E775619A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R$ 5,5mi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BDE0479-2EF0-4AAE-995B-0A0ED2C9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R$ 52,2mi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03A0D27-CF20-4A18-BCCE-A8D7A1CC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9244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R$ 46,8mi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F8CD266-F97E-4A89-9314-19506C55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9244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855,2%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A8C88FF-D410-4F4C-81E4-001AFE91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9244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2,8%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2BD61E9-29BA-40FB-85B4-DC2A7C7C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673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FE77F22-C012-4B31-A285-E953CB22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244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STONE IP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A35CEC8-4FA8-4AC7-B123-098D18D2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R$ 236,0mi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81C7C7A-B817-45B2-BC3A-86B7D8EA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R$ 2,2bi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A8DB2B7-7319-434C-9807-B3E604F5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1244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R$ 1,9bi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40B91D0-2B04-4D37-A788-8E77CD85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1244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825,6%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FF8DBB2-2133-4D2F-8845-AD0A5B615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1244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26,1%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5E70750-8B6C-41BE-89D2-2219F425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673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C7D349D-3943-4788-948E-44616BF7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3244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ORIGINAL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7C5C220-B861-4E8D-931F-70B4C309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R$ 16,5mi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882160C-ADD6-4617-80D6-C32AE46C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R$ 108,7mi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8737C59-2A13-4EEB-B931-4F33A33D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3244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R$ 92,2mi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A51961F-3242-4DBF-8176-8732BAA2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3244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558,1%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4F08229-27C9-4396-8EB2-6E2B46099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3244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6,1%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E996D35-7241-4676-AE52-F451CC55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673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8FC2870-5A3F-420F-8FE8-828BB6A4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5245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WISE BRASIL CC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087F11E-9BFC-4F84-A7E9-D26A6BDA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R$ 2,3mi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776EAB4-F97F-4745-B3C0-9EDEAFC3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R$ 11,0mi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64C83C3-9A9E-47D9-873F-8B6521FB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5245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R$ 8,7mi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F58CB38-47FD-4139-9C42-B757459D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5245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384,4%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42DA85B-5AD7-46A5-962B-EEBE9F3D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5245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7,0%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FF7B8ED-716C-45A4-B18B-9076B7A3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673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6412F88-1C61-4F1B-8FBA-7907898E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7245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RECARGAPAY IP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3A062C7-E4EB-4503-BD7E-8232836B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-R$ 3,0mi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17A27E5-BA18-49AE-82D1-7B7F00FC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R$ 7,7mi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2964972-1DEE-4090-A79C-B08517A7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7245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R$ 10,7mi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3ABD6F7-7DE9-427C-B557-54F95256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7245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355,1%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9D00289-5B76-41B0-89DF-3FF47A98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7245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4,2%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C2E60C1-6454-49E9-ABCF-6FC519B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674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DB064A2-4818-4A36-9A5F-91143FB3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245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BANQI IP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6CEDAFE-6EE8-4F7F-844E-124E9012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R$ 4,4mi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75AEA5C-B397-40C6-BAEF-8016B936A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R$ 19,2mi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1917A5F-15F6-4855-9867-47FE7F52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9245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R$ 14,7mi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9041654-ECCE-46E3-8B49-817758C5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9245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331,9%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2603822-31AE-4D12-A305-8F4C8069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9245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4,4%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0F48414-8BDB-4CC7-BB53-378103B4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674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590CBD1-7649-4290-AD5A-3E04560E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1245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FATOR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1CA08CC9-6871-4C37-AE2C-A9A04485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R$ 3,5mi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93BE6F3-A6F8-4430-9241-E014CBC5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R$ 14,7mi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D504D073-CA8D-4DC7-9558-1F7D4C50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61245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R$ 11,2mi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2A44314-754F-48CB-B118-03D2E7B7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61245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316,3%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EDFAA8A-8079-4EEE-855C-197C5D0B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61245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7,0%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96E0A96-1207-46D7-8BBE-CFE47391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95500"/>
            <a:ext cx="485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Maiores quedas percentuais de LL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B9AFE1E-0371-4B6A-BEC8-4217E00C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145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15183EA8-58E2-412E-9206-2005C040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76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1. OMNI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B37AFD9F-5423-4BDD-9F40-70BF0119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D95276E-5800-4837-BEBD-2D67EE0F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364701F8-28CF-4DC0-9E8B-5CD397D4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66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-4.581,3%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B15AA6F-C5CF-4936-89DF-B5DDE7A2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05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2. BCO AFINZ BM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931D602-9097-4DC7-9B6D-97F31302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43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548B530-7CD1-41F1-8897-92A3335B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43200"/>
            <a:ext cx="129904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CB0278D9-A5B5-4D6B-9A20-FCC905A3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95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-2.728,4%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0F658470-3CBE-4FC9-BAF9-328D1919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933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3. MERCADO PAGO IP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901E3233-6CE4-4FBC-980F-7E1013DC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971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FD3BEB5A-E5C7-4269-97D3-0B088463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971800"/>
            <a:ext cx="4763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4777CCAB-B209-4CF1-9DD1-A27D6295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24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-1.000,6%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7114DB47-34EE-4B44-96C7-E3DB5A7C8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1623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4. CAIXA GERAL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9D771FFD-D7CB-46AC-891F-0C132711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004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343F775B-6D65-4062-89D5-21C904E3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00400"/>
            <a:ext cx="31993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01FF310E-5523-41C0-B26E-CFE3276A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527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-672,0%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E3239971-DC92-4FB8-876D-36BDC7FA8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909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5. CELCOIN IP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2686F176-6AEB-42A6-8E3A-14E3A5B3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290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84DCF514-8F03-4C81-888A-1D21104F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29000"/>
            <a:ext cx="30471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05A036DC-02D3-4E18-8197-30A4D548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3813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-640,0%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51165E08-DD69-4BD6-8974-9788C0DF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619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6. BCO DIGIMAIS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B471DD7E-0948-4C11-8E84-AC2C8534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57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5C245938-6F3C-4425-9D4E-ED928E58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57600"/>
            <a:ext cx="28847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7D6C58C2-8F22-4FC2-8B8F-18331E97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09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-605,9%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C62F06F5-ADB9-4B9E-A301-D6B1B242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848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7. GENIAL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A06B29A1-902F-484E-BBCE-088A2DAD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86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4CE94D1D-B3BF-477F-994E-B109E0A7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86200"/>
            <a:ext cx="2634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FB1851BF-A6AE-4B2D-B857-94C1B7F3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838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-553,3%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641CABF6-CB03-49E2-B892-31504F91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76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8. ANDBANK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E7C06BA3-CF1F-4017-BEFC-85E4E587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114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2D469636-9BFB-4B9C-B968-9299FE45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114800"/>
            <a:ext cx="12386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F23E1E27-EECA-4BBF-A81E-BF3AC9D7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-260,2%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824616E8-6D76-4D37-A1E5-53706FF4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429125"/>
            <a:ext cx="4476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460E991B-1746-4237-907F-7F388408E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495800"/>
            <a:ext cx="1333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IF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D28C5F6D-B659-43D3-8748-43B7AF22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25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5AE21D8F-4BEA-40AC-9EA5-DDE34AC8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26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6E86C561-163B-43CF-A6FF-5C06E641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495800"/>
            <a:ext cx="590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ΔLL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75CB1C98-9CE6-43AE-AB5C-E3484FDD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495800"/>
            <a:ext cx="4191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Var.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B885572E-291C-4D11-9B45-14791C0F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495800"/>
            <a:ext cx="4191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LL26/PL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A3114E4B-EB20-4653-9C1D-DD2FD53C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672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2A1DB1B-AF00-4BD1-8A4E-028D849A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7244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OMNI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22DB030C-F3A9-49E3-9397-7E63DB60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R$ 405,5mil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7E975D19-DFEB-4AED-A77A-A2B743F6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-R$ 18,2mi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73BEBFAE-9E18-4759-ACC3-583675E0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7244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-R$ 18,6mi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6D190456-B540-401E-80C8-F5DC150FA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7244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-4.581,3%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95C8D8A-FA3E-4674-8CD9-2A5159EC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7244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-2,1%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F619F986-FDFC-44BF-B287-A47635A5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8672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9D6CA536-2967-4E95-B5CE-CB63D5F4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9244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BANCO AFINZ BM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2FB9C66D-801D-4AA3-801B-A1D7CCA0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R$ 1,8mi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7AF7188D-2AC1-47E8-ADD7-D2A66BBC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-R$ 47,8mi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92C0F78-82C2-4024-BEEC-C5C94680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9244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-R$ 49,7mi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DC2C9014-D661-4E56-8B93-030C42C9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9244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-2.728,4%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3B2C432D-3DDB-4C40-9FB7-79A4C2DFF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9244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-30,3%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6FC822D1-D631-403C-95DF-4DE1A9BC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673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8CBE957E-B6A5-4205-B6CE-0C86D904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1244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MERCADO PAGO IP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83EC6078-170D-4580-8A03-47CA1BAB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-R$ 2,8mi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1F52EEB7-5968-4844-9832-E9863300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-R$ 30,5mi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78D01208-5DDC-4125-9775-C55890AC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1244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-R$ 27,7mi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D1D8871A-0275-4EC8-A1B9-1CFAA26A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1244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-1.000,6%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AC0395E9-21ED-4C0D-B062-23466F82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51244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-0,6%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AD879E14-46E5-4D10-B78D-CD42AFE9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2673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BA099D7D-290E-43EE-914F-8FE8F5A1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3244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CAIXA GERAL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F63A05A8-0D56-4CDE-8048-3B06116E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-R$ 656,3mil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026661BE-279C-44C6-8C66-B4569B41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-R$ 5,1mi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6F4E3067-5F07-423B-95A3-7E32D4E1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3244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-R$ 4,4mi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8604E254-B096-4972-903F-7392EEE6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3244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-672,0%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0C9F6BEF-BF9A-457B-899A-EA36BBCD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53244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-1,7%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36AB154C-4FC8-4489-97ED-52B5994B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4673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797937AB-99B7-44E7-89BD-80CEC307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5245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CELCOIN IP</a:t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CBEA973D-C747-44CA-B62C-C528AF1C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R$ 3,7mi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A5B3F339-A601-4829-8F61-AD62C01E9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-R$ 20,2mi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A09E4F30-3E9A-4DB7-AE81-65CE1D08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245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-R$ 23,9mi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ABEF8DCC-1A2F-4C7A-8922-6B03B5DD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5245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-640,0%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2C3AAC21-5368-40DE-90F7-0E9DAF0A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55245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-5,3%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E28E0F9D-B4FB-4E59-BEAC-5F0F47A6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6673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FE9C130C-F7F8-4F4E-A807-6B274D0B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7245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BANCO DIGIMAIS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2A4899C1-5B69-4108-90CA-C9D8209D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-R$ 15,4mi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8A5AE2EA-EF8B-4FCA-9E2C-56FECDD8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-R$ 108,4mi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FB6A0FB6-183C-4E06-A4D3-6EDF77AE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7245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-R$ 93,0mi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A54C0586-3B11-4FDF-B147-A756ADA2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7245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-605,9%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28618F9F-5357-4CE0-95D9-45BABA439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57245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-13,6%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D5171F81-C5E5-4264-BE89-00D462D2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8674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F91C75F0-40A0-42D4-B56C-22434D29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9245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GENIAL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7A9E5615-F1F1-473E-926E-F117EC42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-R$ 7,3mi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7AD2BF94-57AE-422F-ADE0-E5F0D96D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-R$ 47,7mi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78E58285-8A00-4B4E-839A-B59A2A837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245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-R$ 40,4mi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69AD2AA4-3E8E-4C59-A227-3E7FA9FDA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9245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-553,3%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4E6974EF-3D45-435B-BCBF-7B8CEEE7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59245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-23,2%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3393A76A-1BDC-42F5-AA19-48A8BE08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60674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B84891A9-A795-4A6E-A2D0-F82D3F40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1245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ANDBANK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3A1679E3-5D21-4A9D-AE77-681B0BCC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-R$ 1,9mi</a:t>
            </a: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542A3F9E-8229-4C73-BA69-8B167B09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-R$ 6,9mi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4B4FD7F1-04CE-4A5A-9EEB-BC1553DD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61245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-R$ 5,0mi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1A7E589A-EA6A-4656-AE11-39EE8F93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61245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-260,2%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442A9648-4DE4-4A6D-8CAC-EF8A8BA9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1245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-2,2%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B236D575-49B1-4E12-BA74-B8CB073B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0"/>
            <a:ext cx="876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Percentuais extremos foram mantidos porque pertencem ao universo filtrado; a tabela mostra o patamar para leitura econômica.</a:t>
            </a: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8BAF30D0-B16A-4A80-B7EB-D6F2BA9A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75F00E3F-589D-4F49-952B-2A6DEC9E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15100"/>
            <a:ext cx="942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Este estudo usou dados do tomaconta | BCB BLOPRUDENCIAL 4060 local | universo: PL Dez/25 &gt;= R$100 mi | valores em R$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C8F41B47-05F5-484E-BA51-F7520017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8652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051431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2026-06-03T18:47:25.1340000Z</dcterms:created>
  <dcterms:modified xsi:type="dcterms:W3CDTF">2026-06-03T18:47:25.1340000Z</dcterms:modified>
</coreProperties>
</file>